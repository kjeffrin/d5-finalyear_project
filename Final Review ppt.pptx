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8" r:id="rId3"/>
    <p:sldId id="282" r:id="rId4"/>
    <p:sldId id="303" r:id="rId5"/>
    <p:sldId id="264" r:id="rId6"/>
    <p:sldId id="263" r:id="rId7"/>
    <p:sldId id="273" r:id="rId8"/>
    <p:sldId id="272" r:id="rId9"/>
    <p:sldId id="262" r:id="rId10"/>
    <p:sldId id="261" r:id="rId11"/>
    <p:sldId id="302" r:id="rId12"/>
    <p:sldId id="304" r:id="rId13"/>
    <p:sldId id="260" r:id="rId14"/>
    <p:sldId id="259" r:id="rId15"/>
    <p:sldId id="266" r:id="rId16"/>
    <p:sldId id="275" r:id="rId17"/>
    <p:sldId id="299" r:id="rId18"/>
    <p:sldId id="274" r:id="rId19"/>
    <p:sldId id="267" r:id="rId20"/>
    <p:sldId id="284" r:id="rId21"/>
    <p:sldId id="285" r:id="rId22"/>
    <p:sldId id="279" r:id="rId23"/>
    <p:sldId id="305" r:id="rId24"/>
    <p:sldId id="269" r:id="rId25"/>
    <p:sldId id="289" r:id="rId26"/>
    <p:sldId id="292" r:id="rId27"/>
    <p:sldId id="293" r:id="rId28"/>
    <p:sldId id="294" r:id="rId29"/>
    <p:sldId id="300" r:id="rId30"/>
    <p:sldId id="270" r:id="rId31"/>
    <p:sldId id="306" r:id="rId32"/>
    <p:sldId id="265"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29" autoAdjust="0"/>
    <p:restoredTop sz="95196" autoAdjust="0"/>
  </p:normalViewPr>
  <p:slideViewPr>
    <p:cSldViewPr snapToGrid="0">
      <p:cViewPr>
        <p:scale>
          <a:sx n="66" d="100"/>
          <a:sy n="66" d="100"/>
        </p:scale>
        <p:origin x="1978" y="355"/>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B0672-1B94-4A60-842A-DF9F0BF0CC8B}" type="datetimeFigureOut">
              <a:rPr lang="en-IN" smtClean="0"/>
              <a:t>29-03-2025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47B17-79FE-4478-A310-1A2505B9FEF6}" type="slidenum">
              <a:rPr lang="en-IN" smtClean="0"/>
              <a:t>‹#›</a:t>
            </a:fld>
            <a:endParaRPr lang="en-IN"/>
          </a:p>
        </p:txBody>
      </p:sp>
    </p:spTree>
    <p:extLst>
      <p:ext uri="{BB962C8B-B14F-4D97-AF65-F5344CB8AC3E}">
        <p14:creationId xmlns:p14="http://schemas.microsoft.com/office/powerpoint/2010/main" val="3225342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1</a:t>
            </a:fld>
            <a:endParaRPr lang="en-IN"/>
          </a:p>
        </p:txBody>
      </p:sp>
    </p:spTree>
    <p:extLst>
      <p:ext uri="{BB962C8B-B14F-4D97-AF65-F5344CB8AC3E}">
        <p14:creationId xmlns:p14="http://schemas.microsoft.com/office/powerpoint/2010/main" val="2868322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3</a:t>
            </a:fld>
            <a:endParaRPr lang="en-IN"/>
          </a:p>
        </p:txBody>
      </p:sp>
    </p:spTree>
    <p:extLst>
      <p:ext uri="{BB962C8B-B14F-4D97-AF65-F5344CB8AC3E}">
        <p14:creationId xmlns:p14="http://schemas.microsoft.com/office/powerpoint/2010/main" val="1194162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4</a:t>
            </a:fld>
            <a:endParaRPr lang="en-IN"/>
          </a:p>
        </p:txBody>
      </p:sp>
    </p:spTree>
    <p:extLst>
      <p:ext uri="{BB962C8B-B14F-4D97-AF65-F5344CB8AC3E}">
        <p14:creationId xmlns:p14="http://schemas.microsoft.com/office/powerpoint/2010/main" val="1442659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6</a:t>
            </a:fld>
            <a:endParaRPr lang="en-IN"/>
          </a:p>
        </p:txBody>
      </p:sp>
    </p:spTree>
    <p:extLst>
      <p:ext uri="{BB962C8B-B14F-4D97-AF65-F5344CB8AC3E}">
        <p14:creationId xmlns:p14="http://schemas.microsoft.com/office/powerpoint/2010/main" val="314644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t>7</a:t>
            </a:fld>
            <a:endParaRPr lang="en-IN"/>
          </a:p>
        </p:txBody>
      </p:sp>
    </p:spTree>
    <p:extLst>
      <p:ext uri="{BB962C8B-B14F-4D97-AF65-F5344CB8AC3E}">
        <p14:creationId xmlns:p14="http://schemas.microsoft.com/office/powerpoint/2010/main" val="3267099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065591-C3C6-47CF-A2DB-55DDBFB55A85}" type="datetime1">
              <a:rPr lang="en-IN" smtClean="0"/>
              <a:t>29-03-2025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432E2-0806-4929-8779-EE88DDC47E47}" type="datetime1">
              <a:rPr lang="en-IN" smtClean="0"/>
              <a:t>29-03-2025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715436-A2AC-4D89-9329-97AA1B97EAFC}" type="datetime1">
              <a:rPr lang="en-IN" smtClean="0"/>
              <a:t>29-03-2025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8E84AF-4249-49EE-87E5-0A37D77DAEE4}" type="datetime1">
              <a:rPr lang="en-IN" smtClean="0"/>
              <a:t>29-03-2025</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E42BAB-21C6-4946-AC9E-F08FB01A7447}" type="datetime1">
              <a:rPr lang="en-IN" smtClean="0"/>
              <a:t>29-03-2025</a:t>
            </a:fld>
            <a:endParaRPr lang="en-IN"/>
          </a:p>
        </p:txBody>
      </p:sp>
      <p:sp>
        <p:nvSpPr>
          <p:cNvPr id="8" name="Footer Placeholder 7"/>
          <p:cNvSpPr>
            <a:spLocks noGrp="1"/>
          </p:cNvSpPr>
          <p:nvPr>
            <p:ph type="ftr" sz="quarter" idx="11"/>
          </p:nvPr>
        </p:nvSpPr>
        <p:spPr/>
        <p:txBody>
          <a:bodyPr/>
          <a:lstStyle/>
          <a:p>
            <a:r>
              <a:rPr lang="en-IN"/>
              <a:t>Title of the Project</a:t>
            </a:r>
          </a:p>
        </p:txBody>
      </p:sp>
      <p:sp>
        <p:nvSpPr>
          <p:cNvPr id="9" name="Slide Number Placeholder 8"/>
          <p:cNvSpPr>
            <a:spLocks noGrp="1"/>
          </p:cNvSpPr>
          <p:nvPr>
            <p:ph type="sldNum" sz="quarter" idx="12"/>
          </p:nvPr>
        </p:nvSpPr>
        <p:spPr/>
        <p:txBody>
          <a:bodyPr/>
          <a:lstStyle/>
          <a:p>
            <a:fld id="{9D3FF152-60F5-4862-82F9-1190556AA56F}"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251D88-3FE6-4182-8819-A45055358F36}" type="datetime1">
              <a:rPr lang="en-IN" smtClean="0"/>
              <a:t>29-03-2025</a:t>
            </a:fld>
            <a:endParaRPr lang="en-IN"/>
          </a:p>
        </p:txBody>
      </p:sp>
      <p:sp>
        <p:nvSpPr>
          <p:cNvPr id="4" name="Footer Placeholder 3"/>
          <p:cNvSpPr>
            <a:spLocks noGrp="1"/>
          </p:cNvSpPr>
          <p:nvPr>
            <p:ph type="ftr" sz="quarter" idx="11"/>
          </p:nvPr>
        </p:nvSpPr>
        <p:spPr/>
        <p:txBody>
          <a:bodyPr/>
          <a:lstStyle/>
          <a:p>
            <a:r>
              <a:rPr lang="en-IN"/>
              <a:t>Title of the Project</a:t>
            </a:r>
          </a:p>
        </p:txBody>
      </p:sp>
      <p:sp>
        <p:nvSpPr>
          <p:cNvPr id="5" name="Slide Number Placeholder 4"/>
          <p:cNvSpPr>
            <a:spLocks noGrp="1"/>
          </p:cNvSpPr>
          <p:nvPr>
            <p:ph type="sldNum" sz="quarter" idx="12"/>
          </p:nvPr>
        </p:nvSpPr>
        <p:spPr/>
        <p:txBody>
          <a:bodyPr/>
          <a:lstStyle/>
          <a:p>
            <a:fld id="{9D3FF152-60F5-4862-82F9-1190556AA56F}"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t>29-03-2025</a:t>
            </a:fld>
            <a:endParaRPr lang="en-IN"/>
          </a:p>
        </p:txBody>
      </p:sp>
      <p:sp>
        <p:nvSpPr>
          <p:cNvPr id="3" name="Footer Placeholder 2"/>
          <p:cNvSpPr>
            <a:spLocks noGrp="1"/>
          </p:cNvSpPr>
          <p:nvPr>
            <p:ph type="ftr" sz="quarter" idx="11"/>
          </p:nvPr>
        </p:nvSpPr>
        <p:spPr/>
        <p:txBody>
          <a:bodyPr/>
          <a:lstStyle/>
          <a:p>
            <a:r>
              <a:rPr lang="en-IN"/>
              <a:t>Title of the Project</a:t>
            </a:r>
          </a:p>
        </p:txBody>
      </p:sp>
      <p:sp>
        <p:nvSpPr>
          <p:cNvPr id="4" name="Slide Number Placeholder 3"/>
          <p:cNvSpPr>
            <a:spLocks noGrp="1"/>
          </p:cNvSpPr>
          <p:nvPr>
            <p:ph type="sldNum" sz="quarter" idx="12"/>
          </p:nvPr>
        </p:nvSpPr>
        <p:spPr/>
        <p:txBody>
          <a:bodyPr/>
          <a:lstStyle/>
          <a:p>
            <a:fld id="{9D3FF152-60F5-4862-82F9-1190556AA56F}"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D1E957-E8C0-4B79-8C47-A2FFB4C79D04}" type="datetime1">
              <a:rPr lang="en-IN" smtClean="0"/>
              <a:t>29-03-2025</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C60097-B585-439D-9C55-CBA24A0E2EC5}" type="datetime1">
              <a:rPr lang="en-IN" smtClean="0"/>
              <a:t>29-03-2025</a:t>
            </a:fld>
            <a:endParaRPr lang="en-IN"/>
          </a:p>
        </p:txBody>
      </p:sp>
      <p:sp>
        <p:nvSpPr>
          <p:cNvPr id="6" name="Footer Placeholder 5"/>
          <p:cNvSpPr>
            <a:spLocks noGrp="1"/>
          </p:cNvSpPr>
          <p:nvPr>
            <p:ph type="ftr" sz="quarter" idx="11"/>
          </p:nvPr>
        </p:nvSpPr>
        <p:spPr/>
        <p:txBody>
          <a:bodyPr/>
          <a:lstStyle/>
          <a:p>
            <a:r>
              <a:rPr lang="en-IN"/>
              <a:t>Title of the Project</a:t>
            </a:r>
          </a:p>
        </p:txBody>
      </p:sp>
      <p:sp>
        <p:nvSpPr>
          <p:cNvPr id="7" name="Slide Number Placeholder 6"/>
          <p:cNvSpPr>
            <a:spLocks noGrp="1"/>
          </p:cNvSpPr>
          <p:nvPr>
            <p:ph type="sldNum" sz="quarter" idx="12"/>
          </p:nvPr>
        </p:nvSpPr>
        <p:spPr/>
        <p:txBody>
          <a:bodyPr/>
          <a:lstStyle/>
          <a:p>
            <a:fld id="{9D3FF152-60F5-4862-82F9-1190556AA56F}"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CC0C9A-A18F-4F99-8022-CCFEBCD4A044}" type="datetime1">
              <a:rPr lang="en-IN" smtClean="0"/>
              <a:t>29-03-2025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C91557-4971-443F-96E7-C200B513F2AB}" type="datetime1">
              <a:rPr lang="en-IN" smtClean="0"/>
              <a:t>29-03-2025</a:t>
            </a:fld>
            <a:endParaRPr lang="en-IN"/>
          </a:p>
        </p:txBody>
      </p:sp>
      <p:sp>
        <p:nvSpPr>
          <p:cNvPr id="5" name="Footer Placeholder 4"/>
          <p:cNvSpPr>
            <a:spLocks noGrp="1"/>
          </p:cNvSpPr>
          <p:nvPr>
            <p:ph type="ftr" sz="quarter" idx="11"/>
          </p:nvPr>
        </p:nvSpPr>
        <p:spPr/>
        <p:txBody>
          <a:bodyPr/>
          <a:lstStyle/>
          <a:p>
            <a:r>
              <a:rPr lang="en-IN"/>
              <a:t>Title of the Project</a:t>
            </a:r>
          </a:p>
        </p:txBody>
      </p:sp>
      <p:sp>
        <p:nvSpPr>
          <p:cNvPr id="6" name="Slide Number Placeholder 5"/>
          <p:cNvSpPr>
            <a:spLocks noGrp="1"/>
          </p:cNvSpPr>
          <p:nvPr>
            <p:ph type="sldNum" sz="quarter" idx="12"/>
          </p:nvPr>
        </p:nvSpPr>
        <p:spPr/>
        <p:txBody>
          <a:bodyPr/>
          <a:lstStyle/>
          <a:p>
            <a:fld id="{9D3FF152-60F5-4862-82F9-1190556AA56F}"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574CBD-D244-420B-B808-B53ACA3B5DC2}" type="datetime1">
              <a:rPr lang="en-IN" smtClean="0"/>
              <a:t>29-03-2025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Title of the Project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FF152-60F5-4862-82F9-1190556AA56F}"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em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174379" y="99322"/>
            <a:ext cx="1576960" cy="1178263"/>
          </a:xfrm>
          <a:prstGeom prst="rect">
            <a:avLst/>
          </a:prstGeom>
        </p:spPr>
      </p:pic>
      <p:pic>
        <p:nvPicPr>
          <p:cNvPr id="1032" name="Picture 8" descr="Anna University - Wikipedi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5085" y="88372"/>
            <a:ext cx="1306884" cy="117826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128419" y="1800692"/>
            <a:ext cx="7020042" cy="461665"/>
          </a:xfrm>
          <a:prstGeom prst="rect">
            <a:avLst/>
          </a:prstGeom>
          <a:noFill/>
        </p:spPr>
        <p:txBody>
          <a:bodyPr wrap="square">
            <a:spAutoFit/>
          </a:bodyPr>
          <a:lstStyle/>
          <a:p>
            <a:r>
              <a:rPr lang="en-US" sz="2400" b="1" dirty="0">
                <a:solidFill>
                  <a:srgbClr val="7030A0"/>
                </a:solidFill>
                <a:latin typeface="Times New Roman" panose="02020603050405020304" pitchFamily="18" charset="0"/>
              </a:rPr>
              <a:t>Department of Computer Science and Engineering </a:t>
            </a:r>
            <a:endParaRPr lang="en-IN" sz="2400" b="1" dirty="0">
              <a:solidFill>
                <a:srgbClr val="7030A0"/>
              </a:solidFill>
            </a:endParaRPr>
          </a:p>
        </p:txBody>
      </p:sp>
      <p:sp>
        <p:nvSpPr>
          <p:cNvPr id="9" name="TextBox 8"/>
          <p:cNvSpPr txBox="1"/>
          <p:nvPr/>
        </p:nvSpPr>
        <p:spPr>
          <a:xfrm>
            <a:off x="1240155" y="2448560"/>
            <a:ext cx="6451600" cy="1384995"/>
          </a:xfrm>
          <a:prstGeom prst="rect">
            <a:avLst/>
          </a:prstGeom>
          <a:noFill/>
        </p:spPr>
        <p:txBody>
          <a:bodyPr wrap="square" rtlCol="0">
            <a:spAutoFit/>
          </a:bodyPr>
          <a:lstStyle/>
          <a:p>
            <a:pPr algn="ctr"/>
            <a:r>
              <a:rPr lang="en-US" altLang="en-US" sz="2800" b="1" dirty="0" smtClean="0">
                <a:latin typeface="Times New Roman" panose="02020603050405020304" pitchFamily="18" charset="0"/>
                <a:cs typeface="Times New Roman" panose="02020603050405020304" pitchFamily="18" charset="0"/>
              </a:rPr>
              <a:t>ONLINE HEALTHCARE SYSTEM AND</a:t>
            </a:r>
          </a:p>
          <a:p>
            <a:pPr algn="ctr"/>
            <a:r>
              <a:rPr lang="en-US" altLang="en-US" sz="2800" b="1" dirty="0" smtClean="0">
                <a:latin typeface="Times New Roman" panose="02020603050405020304" pitchFamily="18" charset="0"/>
                <a:cs typeface="Times New Roman" panose="02020603050405020304" pitchFamily="18" charset="0"/>
              </a:rPr>
              <a:t>DNA  ANALYSIS </a:t>
            </a:r>
            <a:endParaRPr lang="en-US" altLang="en-US" sz="2800" b="1"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5049210" y="5456602"/>
            <a:ext cx="4261042"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Mr. </a:t>
            </a:r>
            <a:r>
              <a:rPr lang="en-US" b="1" dirty="0" smtClean="0">
                <a:latin typeface="Times New Roman" panose="02020603050405020304" pitchFamily="18" charset="0"/>
                <a:cs typeface="Times New Roman" panose="02020603050405020304" pitchFamily="18" charset="0"/>
              </a:rPr>
              <a:t>A. KARTHIKEYAN B.E., </a:t>
            </a:r>
            <a:r>
              <a:rPr lang="en-US" b="1" dirty="0" err="1" smtClean="0">
                <a:latin typeface="Times New Roman" panose="02020603050405020304" pitchFamily="18" charset="0"/>
                <a:cs typeface="Times New Roman" panose="02020603050405020304" pitchFamily="18" charset="0"/>
              </a:rPr>
              <a:t>M.Tech</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SUPERVISOR	</a:t>
            </a:r>
            <a:endParaRPr lang="en-IN"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2018012" y="3986948"/>
            <a:ext cx="4802820" cy="922020"/>
          </a:xfrm>
          <a:prstGeom prst="rect">
            <a:avLst/>
          </a:prstGeom>
          <a:noFill/>
        </p:spPr>
        <p:txBody>
          <a:bodyPr wrap="square" rtlCol="0">
            <a:spAutoFit/>
          </a:bodyPr>
          <a:lstStyle/>
          <a:p>
            <a:pPr algn="ctr"/>
            <a:r>
              <a:rPr lang="en-US" b="1" dirty="0" smtClean="0">
                <a:latin typeface="Times New Roman" panose="02020603050405020304" pitchFamily="18" charset="0"/>
                <a:cs typeface="Times New Roman" panose="02020603050405020304" pitchFamily="18" charset="0"/>
              </a:rPr>
              <a:t>MOHAN B </a:t>
            </a: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211421104164</a:t>
            </a:r>
            <a:endParaRPr lang="en-US" b="1" dirty="0">
              <a:latin typeface="Times New Roman" panose="02020603050405020304" pitchFamily="18" charset="0"/>
              <a:cs typeface="Times New Roman" panose="02020603050405020304" pitchFamily="18" charset="0"/>
            </a:endParaRPr>
          </a:p>
          <a:p>
            <a:pPr algn="ctr"/>
            <a:r>
              <a:rPr lang="en-US" altLang="en-IN" b="1" dirty="0" smtClean="0">
                <a:latin typeface="Times New Roman" panose="02020603050405020304" pitchFamily="18" charset="0"/>
                <a:cs typeface="Times New Roman" panose="02020603050405020304" pitchFamily="18" charset="0"/>
              </a:rPr>
              <a:t>MADAN KUMAR P </a:t>
            </a:r>
            <a:r>
              <a:rPr lang="en-US" altLang="en-IN" b="1" dirty="0">
                <a:latin typeface="Times New Roman" panose="02020603050405020304" pitchFamily="18" charset="0"/>
                <a:cs typeface="Times New Roman" panose="02020603050405020304" pitchFamily="18" charset="0"/>
              </a:rPr>
              <a:t>/ </a:t>
            </a:r>
            <a:r>
              <a:rPr lang="en-US" altLang="en-IN" b="1" dirty="0" smtClean="0">
                <a:latin typeface="Times New Roman" panose="02020603050405020304" pitchFamily="18" charset="0"/>
                <a:cs typeface="Times New Roman" panose="02020603050405020304" pitchFamily="18" charset="0"/>
              </a:rPr>
              <a:t>211421104147</a:t>
            </a:r>
            <a:endParaRPr lang="en-US" altLang="en-IN" b="1" dirty="0">
              <a:latin typeface="Times New Roman" panose="02020603050405020304" pitchFamily="18" charset="0"/>
              <a:cs typeface="Times New Roman" panose="02020603050405020304" pitchFamily="18" charset="0"/>
            </a:endParaRPr>
          </a:p>
          <a:p>
            <a:pPr algn="ctr"/>
            <a:r>
              <a:rPr lang="en-US" altLang="en-IN" b="1" dirty="0" smtClean="0">
                <a:latin typeface="Times New Roman" panose="02020603050405020304" pitchFamily="18" charset="0"/>
                <a:cs typeface="Times New Roman" panose="02020603050405020304" pitchFamily="18" charset="0"/>
              </a:rPr>
              <a:t>KINGSLY JEFFRIN J </a:t>
            </a:r>
            <a:r>
              <a:rPr lang="en-US" altLang="en-IN" b="1" dirty="0">
                <a:latin typeface="Times New Roman" panose="02020603050405020304" pitchFamily="18" charset="0"/>
                <a:cs typeface="Times New Roman" panose="02020603050405020304" pitchFamily="18" charset="0"/>
              </a:rPr>
              <a:t>/ </a:t>
            </a:r>
            <a:r>
              <a:rPr lang="en-US" altLang="en-IN" b="1" dirty="0" smtClean="0">
                <a:latin typeface="Times New Roman" panose="02020603050405020304" pitchFamily="18" charset="0"/>
                <a:cs typeface="Times New Roman" panose="02020603050405020304" pitchFamily="18" charset="0"/>
              </a:rPr>
              <a:t>211421104129</a:t>
            </a:r>
            <a:endParaRPr lang="en-US" altLang="en-IN"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5"/>
          <a:stretch>
            <a:fillRect/>
          </a:stretch>
        </p:blipFill>
        <p:spPr>
          <a:xfrm>
            <a:off x="1418480" y="99322"/>
            <a:ext cx="6133822" cy="1263286"/>
          </a:xfrm>
          <a:prstGeom prst="rect">
            <a:avLst/>
          </a:prstGeom>
        </p:spPr>
      </p:pic>
      <p:sp>
        <p:nvSpPr>
          <p:cNvPr id="10" name="Slide Number Placeholder 9"/>
          <p:cNvSpPr>
            <a:spLocks noGrp="1"/>
          </p:cNvSpPr>
          <p:nvPr>
            <p:ph type="sldNum" sz="quarter" idx="12"/>
          </p:nvPr>
        </p:nvSpPr>
        <p:spPr>
          <a:xfrm>
            <a:off x="6457949" y="6356351"/>
            <a:ext cx="2314273" cy="365125"/>
          </a:xfrm>
        </p:spPr>
        <p:txBody>
          <a:bodyPr/>
          <a:lstStyle/>
          <a:p>
            <a:fld id="{9D3FF152-60F5-4862-82F9-1190556AA56F}" type="slidenum">
              <a:rPr lang="en-IN" sz="1400" b="1" smtClean="0">
                <a:solidFill>
                  <a:schemeClr val="tx1"/>
                </a:solidFill>
              </a:rPr>
              <a:t>1</a:t>
            </a:fld>
            <a:endParaRPr lang="en-IN" sz="1400" b="1" dirty="0">
              <a:solidFill>
                <a:schemeClr val="tx1"/>
              </a:solidFill>
            </a:endParaRPr>
          </a:p>
        </p:txBody>
      </p:sp>
      <p:sp>
        <p:nvSpPr>
          <p:cNvPr id="4" name="TextBox 3">
            <a:extLst>
              <a:ext uri="{FF2B5EF4-FFF2-40B4-BE49-F238E27FC236}">
                <a16:creationId xmlns:a16="http://schemas.microsoft.com/office/drawing/2014/main" xmlns="" id="{DE3E0539-95AE-D1DB-D724-55D1444290FB}"/>
              </a:ext>
            </a:extLst>
          </p:cNvPr>
          <p:cNvSpPr txBox="1"/>
          <p:nvPr/>
        </p:nvSpPr>
        <p:spPr>
          <a:xfrm>
            <a:off x="474962" y="5503987"/>
            <a:ext cx="3086100" cy="369332"/>
          </a:xfrm>
          <a:prstGeom prst="rect">
            <a:avLst/>
          </a:prstGeom>
          <a:noFill/>
        </p:spPr>
        <p:txBody>
          <a:bodyPr wrap="square" rtlCol="0">
            <a:spAutoFit/>
          </a:bodyPr>
          <a:lstStyle/>
          <a:p>
            <a:r>
              <a:rPr lang="en-US" dirty="0"/>
              <a:t>BATCH NO: </a:t>
            </a:r>
            <a:r>
              <a:rPr lang="en-US" dirty="0" smtClean="0"/>
              <a:t>D5</a:t>
            </a:r>
            <a:endParaRPr lang="en-IN" dirty="0"/>
          </a:p>
        </p:txBody>
      </p:sp>
      <p:sp>
        <p:nvSpPr>
          <p:cNvPr id="11" name="Date Placeholder 4"/>
          <p:cNvSpPr>
            <a:spLocks noGrp="1"/>
          </p:cNvSpPr>
          <p:nvPr>
            <p:ph type="dt" sz="half" idx="10"/>
          </p:nvPr>
        </p:nvSpPr>
        <p:spPr>
          <a:xfrm>
            <a:off x="628650" y="6356351"/>
            <a:ext cx="2057400" cy="365125"/>
          </a:xfrm>
        </p:spPr>
        <p:txBody>
          <a:bodyPr/>
          <a:lstStyle/>
          <a:p>
            <a:fld id="{F2382B28-C76E-421D-85B3-89C9075D36D4}" type="datetime1">
              <a:rPr lang="en-IN" smtClean="0"/>
              <a:t>29-03-2025</a:t>
            </a:fld>
            <a:endParaRPr lang="en-IN" dirty="0"/>
          </a:p>
        </p:txBody>
      </p:sp>
      <p:sp>
        <p:nvSpPr>
          <p:cNvPr id="12" name="Footer Placeholder 2"/>
          <p:cNvSpPr>
            <a:spLocks noGrp="1"/>
          </p:cNvSpPr>
          <p:nvPr>
            <p:ph type="ftr" sz="quarter" idx="11"/>
          </p:nvPr>
        </p:nvSpPr>
        <p:spPr>
          <a:xfrm>
            <a:off x="3028950" y="6356351"/>
            <a:ext cx="3086100" cy="365125"/>
          </a:xfrm>
        </p:spPr>
        <p:txBody>
          <a:bodyPr/>
          <a:lstStyle/>
          <a:p>
            <a:r>
              <a:rPr lang="en-IN" dirty="0" smtClean="0"/>
              <a:t>Online Healthcare System and DNA Analysis</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0967"/>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Abstract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t>2</a:t>
            </a:fld>
            <a:endParaRPr lang="en-IN" sz="1400" b="1" dirty="0">
              <a:solidFill>
                <a:schemeClr val="tx1"/>
              </a:solidFill>
            </a:endParaRPr>
          </a:p>
        </p:txBody>
      </p:sp>
      <p:sp>
        <p:nvSpPr>
          <p:cNvPr id="5" name="TextBox 4"/>
          <p:cNvSpPr txBox="1"/>
          <p:nvPr/>
        </p:nvSpPr>
        <p:spPr>
          <a:xfrm>
            <a:off x="628650" y="709404"/>
            <a:ext cx="7886700" cy="5493812"/>
          </a:xfrm>
          <a:prstGeom prst="rect">
            <a:avLst/>
          </a:prstGeom>
          <a:noFill/>
        </p:spPr>
        <p:txBody>
          <a:bodyPr wrap="square" rtlCol="0">
            <a:spAutoFit/>
          </a:bodyPr>
          <a:lstStyle/>
          <a:p>
            <a:pPr algn="just">
              <a:lnSpc>
                <a:spcPct val="150000"/>
              </a:lnSpc>
            </a:pPr>
            <a:r>
              <a:rPr lang="en-US" dirty="0">
                <a:latin typeface="Times New Roman" pitchFamily="18" charset="0"/>
                <a:cs typeface="Times New Roman" pitchFamily="18" charset="0"/>
              </a:rPr>
              <a:t>This project is an advanced web-based healthcare management system designed to bridge the gap between hospitals, doctors, and patients while offering secure and efficient healthcare </a:t>
            </a:r>
            <a:r>
              <a:rPr lang="en-US" dirty="0" smtClean="0">
                <a:latin typeface="Times New Roman" pitchFamily="18" charset="0"/>
                <a:cs typeface="Times New Roman" pitchFamily="18" charset="0"/>
              </a:rPr>
              <a:t>services. The </a:t>
            </a:r>
            <a:r>
              <a:rPr lang="en-US" dirty="0">
                <a:latin typeface="Times New Roman" pitchFamily="18" charset="0"/>
                <a:cs typeface="Times New Roman" pitchFamily="18" charset="0"/>
              </a:rPr>
              <a:t>platform allows hospitals to register, manage doctors, and define service </a:t>
            </a:r>
            <a:r>
              <a:rPr lang="en-US" dirty="0" smtClean="0">
                <a:latin typeface="Times New Roman" pitchFamily="18" charset="0"/>
                <a:cs typeface="Times New Roman" pitchFamily="18" charset="0"/>
              </a:rPr>
              <a:t>costs. Patients </a:t>
            </a:r>
            <a:r>
              <a:rPr lang="en-US" dirty="0">
                <a:latin typeface="Times New Roman" pitchFamily="18" charset="0"/>
                <a:cs typeface="Times New Roman" pitchFamily="18" charset="0"/>
              </a:rPr>
              <a:t>can conveniently select hospitals, choose doctors, make secure payments, and receive a personalized Token to enable encrypted communication with their chosen </a:t>
            </a:r>
            <a:r>
              <a:rPr lang="en-US" dirty="0" smtClean="0">
                <a:latin typeface="Times New Roman" pitchFamily="18" charset="0"/>
                <a:cs typeface="Times New Roman" pitchFamily="18" charset="0"/>
              </a:rPr>
              <a:t>doctor. Patients </a:t>
            </a:r>
            <a:r>
              <a:rPr lang="en-US" dirty="0">
                <a:latin typeface="Times New Roman" pitchFamily="18" charset="0"/>
                <a:cs typeface="Times New Roman" pitchFamily="18" charset="0"/>
              </a:rPr>
              <a:t>can upload DNA sequences, which doctors analyze using the Smith-Waterman algorithm to provide precise diagnostic </a:t>
            </a:r>
            <a:r>
              <a:rPr lang="en-US" dirty="0" smtClean="0">
                <a:latin typeface="Times New Roman" pitchFamily="18" charset="0"/>
                <a:cs typeface="Times New Roman" pitchFamily="18" charset="0"/>
              </a:rPr>
              <a:t>results. An </a:t>
            </a:r>
            <a:r>
              <a:rPr lang="en-US" dirty="0">
                <a:latin typeface="Times New Roman" pitchFamily="18" charset="0"/>
                <a:cs typeface="Times New Roman" pitchFamily="18" charset="0"/>
              </a:rPr>
              <a:t>administrator oversees the platform to ensure streamlined operations and robust security </a:t>
            </a:r>
            <a:r>
              <a:rPr lang="en-US" dirty="0" smtClean="0">
                <a:latin typeface="Times New Roman" pitchFamily="18" charset="0"/>
                <a:cs typeface="Times New Roman" pitchFamily="18" charset="0"/>
              </a:rPr>
              <a:t>compliance. To </a:t>
            </a:r>
            <a:r>
              <a:rPr lang="en-US" dirty="0">
                <a:latin typeface="Times New Roman" pitchFamily="18" charset="0"/>
                <a:cs typeface="Times New Roman" pitchFamily="18" charset="0"/>
              </a:rPr>
              <a:t>protect sensitive patient information, the system employs the AES encryption algorithm, safeguarding data confidentiality and integrity during storage and </a:t>
            </a:r>
            <a:r>
              <a:rPr lang="en-US" dirty="0" smtClean="0">
                <a:latin typeface="Times New Roman" pitchFamily="18" charset="0"/>
                <a:cs typeface="Times New Roman" pitchFamily="18" charset="0"/>
              </a:rPr>
              <a:t>transmission. By </a:t>
            </a:r>
            <a:r>
              <a:rPr lang="en-US" dirty="0">
                <a:latin typeface="Times New Roman" pitchFamily="18" charset="0"/>
                <a:cs typeface="Times New Roman" pitchFamily="18" charset="0"/>
              </a:rPr>
              <a:t>integrating secure communication channels with advanced DNA analysis capabilities, the system offers </a:t>
            </a:r>
            <a:r>
              <a:rPr lang="en-US" dirty="0" smtClean="0">
                <a:latin typeface="Times New Roman" pitchFamily="18" charset="0"/>
                <a:cs typeface="Times New Roman" pitchFamily="18" charset="0"/>
              </a:rPr>
              <a:t>fostering </a:t>
            </a:r>
            <a:r>
              <a:rPr lang="en-US" dirty="0">
                <a:latin typeface="Times New Roman" pitchFamily="18" charset="0"/>
                <a:cs typeface="Times New Roman" pitchFamily="18" charset="0"/>
              </a:rPr>
              <a:t>trust, security, and efficiency in medical services.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567"/>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Introduction</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t>3</a:t>
            </a:fld>
            <a:endParaRPr lang="en-IN" sz="1400" b="1" dirty="0">
              <a:solidFill>
                <a:schemeClr val="tx1"/>
              </a:solidFill>
            </a:endParaRPr>
          </a:p>
        </p:txBody>
      </p:sp>
      <p:sp>
        <p:nvSpPr>
          <p:cNvPr id="5" name="TextBox 4"/>
          <p:cNvSpPr txBox="1"/>
          <p:nvPr/>
        </p:nvSpPr>
        <p:spPr>
          <a:xfrm>
            <a:off x="549627" y="876730"/>
            <a:ext cx="8210550" cy="5493812"/>
          </a:xfrm>
          <a:prstGeom prst="rect">
            <a:avLst/>
          </a:prstGeom>
          <a:noFill/>
        </p:spPr>
        <p:txBody>
          <a:bodyPr wrap="square" rtlCol="0">
            <a:spAutoFit/>
          </a:bodyPr>
          <a:lstStyle/>
          <a:p>
            <a:pPr marL="285750" indent="-285750" algn="just">
              <a:lnSpc>
                <a:spcPct val="150000"/>
              </a:lnSpc>
              <a:buFont typeface="Arial" pitchFamily="34" charset="0"/>
              <a:buChar char="•"/>
            </a:pPr>
            <a:r>
              <a:rPr lang="en-US" dirty="0">
                <a:latin typeface="Times New Roman" pitchFamily="18" charset="0"/>
                <a:cs typeface="Times New Roman" pitchFamily="18" charset="0"/>
              </a:rPr>
              <a:t>The healthcare industry has seen significant advancements with the integration of technology, leading to more efficient and secure management of medical </a:t>
            </a:r>
            <a:r>
              <a:rPr lang="en-US" dirty="0" smtClean="0">
                <a:latin typeface="Times New Roman" pitchFamily="18" charset="0"/>
                <a:cs typeface="Times New Roman" pitchFamily="18" charset="0"/>
              </a:rPr>
              <a:t>services</a:t>
            </a:r>
            <a:r>
              <a:rPr lang="en-US" dirty="0" smtClean="0">
                <a:latin typeface="Times New Roman" pitchFamily="18" charset="0"/>
                <a:cs typeface="Times New Roman" pitchFamily="18" charset="0"/>
              </a:rPr>
              <a:t>.</a:t>
            </a:r>
          </a:p>
          <a:p>
            <a:pPr algn="just">
              <a:lnSpc>
                <a:spcPct val="150000"/>
              </a:lnSpc>
            </a:pPr>
            <a:endParaRPr lang="en-US" dirty="0" smtClean="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smtClean="0">
                <a:latin typeface="Times New Roman" pitchFamily="18" charset="0"/>
                <a:cs typeface="Times New Roman" pitchFamily="18" charset="0"/>
              </a:rPr>
              <a:t>This </a:t>
            </a:r>
            <a:r>
              <a:rPr lang="en-US" dirty="0">
                <a:latin typeface="Times New Roman" pitchFamily="18" charset="0"/>
                <a:cs typeface="Times New Roman" pitchFamily="18" charset="0"/>
              </a:rPr>
              <a:t>web-based healthcare management system aims to enhance the overall healthcare experience by connecting hospitals, doctors, and patients in a seamless and secure platform. </a:t>
            </a:r>
            <a:endParaRPr lang="en-US" dirty="0" smtClean="0">
              <a:latin typeface="Times New Roman" pitchFamily="18" charset="0"/>
              <a:cs typeface="Times New Roman" pitchFamily="18" charset="0"/>
            </a:endParaRPr>
          </a:p>
          <a:p>
            <a:pPr algn="just">
              <a:lnSpc>
                <a:spcPct val="150000"/>
              </a:lnSpc>
            </a:pPr>
            <a:endParaRPr lang="en-US" dirty="0" smtClean="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facilitates hospital registration, doctor management, and service cost definitions, enabling patients to select hospitals and doctors based on their preferences. </a:t>
            </a:r>
            <a:endParaRPr lang="en-US" dirty="0" smtClean="0">
              <a:latin typeface="Times New Roman" pitchFamily="18" charset="0"/>
              <a:cs typeface="Times New Roman" pitchFamily="18" charset="0"/>
            </a:endParaRPr>
          </a:p>
          <a:p>
            <a:pPr algn="just">
              <a:lnSpc>
                <a:spcPct val="150000"/>
              </a:lnSpc>
            </a:pPr>
            <a:endParaRPr lang="en-US" dirty="0" smtClean="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smtClean="0">
                <a:latin typeface="Times New Roman" pitchFamily="18" charset="0"/>
                <a:cs typeface="Times New Roman" pitchFamily="18" charset="0"/>
              </a:rPr>
              <a:t>By </a:t>
            </a:r>
            <a:r>
              <a:rPr lang="en-US" dirty="0">
                <a:latin typeface="Times New Roman" pitchFamily="18" charset="0"/>
                <a:cs typeface="Times New Roman" pitchFamily="18" charset="0"/>
              </a:rPr>
              <a:t>introducing encrypted communication via secure chat and token-based authentication, patients can interact with doctors in a private and protected environment. </a:t>
            </a:r>
            <a:endParaRPr lang="en-US" dirty="0" smtClean="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567"/>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Introduction</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t>4</a:t>
            </a:fld>
            <a:endParaRPr lang="en-IN" sz="1400" b="1" dirty="0">
              <a:solidFill>
                <a:schemeClr val="tx1"/>
              </a:solidFill>
            </a:endParaRPr>
          </a:p>
        </p:txBody>
      </p:sp>
      <p:sp>
        <p:nvSpPr>
          <p:cNvPr id="5" name="TextBox 4"/>
          <p:cNvSpPr txBox="1"/>
          <p:nvPr/>
        </p:nvSpPr>
        <p:spPr>
          <a:xfrm>
            <a:off x="549627" y="876730"/>
            <a:ext cx="8210550" cy="4662815"/>
          </a:xfrm>
          <a:prstGeom prst="rect">
            <a:avLst/>
          </a:prstGeom>
          <a:noFill/>
        </p:spPr>
        <p:txBody>
          <a:bodyPr wrap="square" rtlCol="0">
            <a:spAutoFit/>
          </a:bodyPr>
          <a:lstStyle/>
          <a:p>
            <a:pPr marL="285750" indent="-285750" algn="just">
              <a:lnSpc>
                <a:spcPct val="150000"/>
              </a:lnSpc>
              <a:buFont typeface="Arial" pitchFamily="34" charset="0"/>
              <a:buChar char="•"/>
            </a:pPr>
            <a:r>
              <a:rPr lang="en-US" dirty="0">
                <a:latin typeface="Times New Roman" pitchFamily="18" charset="0"/>
                <a:cs typeface="Times New Roman" pitchFamily="18" charset="0"/>
              </a:rPr>
              <a:t>Furthermore, the system supports the upload of DNA sequences, which are analyzed using the Smith-Waterman algorithm, offering precise diagnostic results tailored to the patient's needs. </a:t>
            </a:r>
            <a:endParaRPr lang="en-US" dirty="0" smtClean="0">
              <a:latin typeface="Times New Roman" pitchFamily="18" charset="0"/>
              <a:cs typeface="Times New Roman" pitchFamily="18" charset="0"/>
            </a:endParaRPr>
          </a:p>
          <a:p>
            <a:pPr algn="just">
              <a:lnSpc>
                <a:spcPct val="150000"/>
              </a:lnSpc>
            </a:pP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The use of AES encryption ensures that all patient data is securely stored and transmitted, preserving confidentiality and trust</a:t>
            </a:r>
            <a:r>
              <a:rPr lang="en-US" dirty="0" smtClean="0">
                <a:latin typeface="Times New Roman" pitchFamily="18" charset="0"/>
                <a:cs typeface="Times New Roman" pitchFamily="18" charset="0"/>
              </a:rPr>
              <a:t>.</a:t>
            </a:r>
          </a:p>
          <a:p>
            <a:pPr algn="just">
              <a:lnSpc>
                <a:spcPct val="150000"/>
              </a:lnSpc>
            </a:pP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The system is monitored by an administrator to ensure smooth operations and compliance with security standards. This project aims to bridge the gap between medical providers and patients while fostering a secure, innovative, and efficient healthcare environment</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837533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Objective of the Project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6457949" y="6356351"/>
            <a:ext cx="2353541" cy="365125"/>
          </a:xfrm>
        </p:spPr>
        <p:txBody>
          <a:bodyPr/>
          <a:lstStyle/>
          <a:p>
            <a:fld id="{9D3FF152-60F5-4862-82F9-1190556AA56F}" type="slidenum">
              <a:rPr lang="en-IN" sz="1400" b="1" smtClean="0">
                <a:solidFill>
                  <a:schemeClr val="tx1"/>
                </a:solidFill>
              </a:rPr>
              <a:t>5</a:t>
            </a:fld>
            <a:endParaRPr lang="en-IN" b="1" dirty="0">
              <a:solidFill>
                <a:schemeClr val="tx1"/>
              </a:solidFill>
            </a:endParaRPr>
          </a:p>
        </p:txBody>
      </p:sp>
      <p:sp>
        <p:nvSpPr>
          <p:cNvPr id="6" name="TextBox 5"/>
          <p:cNvSpPr txBox="1"/>
          <p:nvPr/>
        </p:nvSpPr>
        <p:spPr>
          <a:xfrm>
            <a:off x="628650" y="821801"/>
            <a:ext cx="7886700" cy="5493812"/>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latin typeface="Times New Roman" pitchFamily="18" charset="0"/>
                <a:cs typeface="Times New Roman" pitchFamily="18" charset="0"/>
              </a:rPr>
              <a:t>The primary objective of this project is to develop a secure and efficient web-based healthcare management system that enhances communication between patients and doctors</a:t>
            </a:r>
            <a:r>
              <a:rPr lang="en-US" dirty="0" smtClean="0">
                <a:latin typeface="Times New Roman" pitchFamily="18" charset="0"/>
                <a:cs typeface="Times New Roman" pitchFamily="18" charset="0"/>
              </a:rPr>
              <a:t>.</a:t>
            </a:r>
          </a:p>
          <a:p>
            <a:pPr marL="342900" indent="-342900" algn="just">
              <a:lnSpc>
                <a:spcPct val="150000"/>
              </a:lnSpc>
              <a:buFont typeface="Arial" pitchFamily="34" charset="0"/>
              <a:buChar char="•"/>
            </a:pPr>
            <a:endParaRPr lang="en-US" dirty="0">
              <a:latin typeface="Times New Roman" pitchFamily="18" charset="0"/>
              <a:cs typeface="Times New Roman" pitchFamily="18" charset="0"/>
            </a:endParaRPr>
          </a:p>
          <a:p>
            <a:pPr marL="342900" indent="-342900" algn="just">
              <a:lnSpc>
                <a:spcPct val="150000"/>
              </a:lnSpc>
              <a:buFont typeface="Arial" pitchFamily="34" charset="0"/>
              <a:buChar char="•"/>
            </a:pPr>
            <a:r>
              <a:rPr lang="en-US" dirty="0">
                <a:latin typeface="Times New Roman" pitchFamily="18" charset="0"/>
                <a:cs typeface="Times New Roman" pitchFamily="18" charset="0"/>
              </a:rPr>
              <a:t>The system aims to provide secure communication and utilizes AES encryption to ensure the protection of personal data</a:t>
            </a:r>
            <a:r>
              <a:rPr lang="en-US" dirty="0" smtClean="0">
                <a:latin typeface="Times New Roman" pitchFamily="18" charset="0"/>
                <a:cs typeface="Times New Roman" pitchFamily="18" charset="0"/>
              </a:rPr>
              <a:t>.</a:t>
            </a:r>
          </a:p>
          <a:p>
            <a:pPr marL="342900" indent="-342900" algn="just">
              <a:lnSpc>
                <a:spcPct val="150000"/>
              </a:lnSpc>
              <a:buFont typeface="Arial" pitchFamily="34" charset="0"/>
              <a:buChar char="•"/>
            </a:pPr>
            <a:endParaRPr lang="en-US" dirty="0">
              <a:latin typeface="Times New Roman" pitchFamily="18" charset="0"/>
              <a:cs typeface="Times New Roman" pitchFamily="18" charset="0"/>
            </a:endParaRPr>
          </a:p>
          <a:p>
            <a:pPr marL="342900" indent="-342900" algn="just">
              <a:lnSpc>
                <a:spcPct val="150000"/>
              </a:lnSpc>
              <a:buFont typeface="Arial" pitchFamily="34" charset="0"/>
              <a:buChar char="•"/>
            </a:pPr>
            <a:r>
              <a:rPr lang="en-US" dirty="0">
                <a:latin typeface="Times New Roman" pitchFamily="18" charset="0"/>
                <a:cs typeface="Times New Roman" pitchFamily="18" charset="0"/>
              </a:rPr>
              <a:t>The platform enables hospitals to register, manage doctor profiles, and set service costs, streamlining healthcare service management and delivery</a:t>
            </a:r>
            <a:r>
              <a:rPr lang="en-US" dirty="0" smtClean="0">
                <a:latin typeface="Times New Roman" pitchFamily="18" charset="0"/>
                <a:cs typeface="Times New Roman" pitchFamily="18" charset="0"/>
              </a:rPr>
              <a:t>.</a:t>
            </a:r>
          </a:p>
          <a:p>
            <a:pPr marL="342900" indent="-342900" algn="just">
              <a:lnSpc>
                <a:spcPct val="150000"/>
              </a:lnSpc>
              <a:buFont typeface="Arial" pitchFamily="34" charset="0"/>
              <a:buChar char="•"/>
            </a:pPr>
            <a:endParaRPr lang="en-US" dirty="0">
              <a:latin typeface="Times New Roman" pitchFamily="18" charset="0"/>
              <a:cs typeface="Times New Roman" pitchFamily="18" charset="0"/>
            </a:endParaRPr>
          </a:p>
          <a:p>
            <a:pPr marL="342900" indent="-342900" algn="just">
              <a:lnSpc>
                <a:spcPct val="150000"/>
              </a:lnSpc>
              <a:buFont typeface="Arial" pitchFamily="34" charset="0"/>
              <a:buChar char="•"/>
            </a:pPr>
            <a:r>
              <a:rPr lang="en-US" dirty="0">
                <a:latin typeface="Times New Roman" pitchFamily="18" charset="0"/>
                <a:cs typeface="Times New Roman" pitchFamily="18" charset="0"/>
              </a:rPr>
              <a:t>A key feature of the system is the ability for patients to share DNA sequences with doctors, allowing them to leverage the Smith-Waterman algorithm for accurate and personalized diagnostic results</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236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Literature Survey</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D3FF152-60F5-4862-82F9-1190556AA56F}" type="slidenum">
              <a:rPr lang="en-IN" sz="1400" b="1" smtClean="0">
                <a:solidFill>
                  <a:schemeClr val="tx1"/>
                </a:solidFill>
              </a:rPr>
              <a:t>6</a:t>
            </a:fld>
            <a:endParaRPr lang="en-IN" sz="1400" b="1" dirty="0">
              <a:solidFill>
                <a:schemeClr val="tx1"/>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2540841205"/>
              </p:ext>
            </p:extLst>
          </p:nvPr>
        </p:nvGraphicFramePr>
        <p:xfrm>
          <a:off x="324090" y="613556"/>
          <a:ext cx="8466214" cy="5745597"/>
        </p:xfrm>
        <a:graphic>
          <a:graphicData uri="http://schemas.openxmlformats.org/drawingml/2006/table">
            <a:tbl>
              <a:tblPr firstRow="1" bandRow="1">
                <a:tableStyleId>{073A0DAA-6AF3-43AB-8588-CEC1D06C72B9}</a:tableStyleId>
              </a:tblPr>
              <a:tblGrid>
                <a:gridCol w="771154">
                  <a:extLst>
                    <a:ext uri="{9D8B030D-6E8A-4147-A177-3AD203B41FA5}">
                      <a16:colId xmlns:a16="http://schemas.microsoft.com/office/drawing/2014/main" xmlns="" val="20000"/>
                    </a:ext>
                  </a:extLst>
                </a:gridCol>
                <a:gridCol w="1825969">
                  <a:extLst>
                    <a:ext uri="{9D8B030D-6E8A-4147-A177-3AD203B41FA5}">
                      <a16:colId xmlns:a16="http://schemas.microsoft.com/office/drawing/2014/main" xmlns="" val="20001"/>
                    </a:ext>
                  </a:extLst>
                </a:gridCol>
                <a:gridCol w="2427588">
                  <a:extLst>
                    <a:ext uri="{9D8B030D-6E8A-4147-A177-3AD203B41FA5}">
                      <a16:colId xmlns:a16="http://schemas.microsoft.com/office/drawing/2014/main" xmlns="" val="20002"/>
                    </a:ext>
                  </a:extLst>
                </a:gridCol>
                <a:gridCol w="1748260">
                  <a:extLst>
                    <a:ext uri="{9D8B030D-6E8A-4147-A177-3AD203B41FA5}">
                      <a16:colId xmlns:a16="http://schemas.microsoft.com/office/drawing/2014/main" xmlns="" val="20003"/>
                    </a:ext>
                  </a:extLst>
                </a:gridCol>
                <a:gridCol w="1693243">
                  <a:extLst>
                    <a:ext uri="{9D8B030D-6E8A-4147-A177-3AD203B41FA5}">
                      <a16:colId xmlns:a16="http://schemas.microsoft.com/office/drawing/2014/main" xmlns="" val="20004"/>
                    </a:ext>
                  </a:extLst>
                </a:gridCol>
              </a:tblGrid>
              <a:tr h="655437">
                <a:tc>
                  <a:txBody>
                    <a:bodyPr/>
                    <a:lstStyle/>
                    <a:p>
                      <a:pPr algn="just"/>
                      <a:r>
                        <a:rPr lang="en-US" sz="1400" dirty="0">
                          <a:solidFill>
                            <a:schemeClr val="tx1"/>
                          </a:solidFill>
                          <a:latin typeface="Times New Roman" panose="02020603050405020304" pitchFamily="18" charset="0"/>
                          <a:cs typeface="Times New Roman" panose="02020603050405020304" pitchFamily="18" charset="0"/>
                        </a:rPr>
                        <a:t>S.NO</a:t>
                      </a:r>
                      <a:endParaRPr lang="en-IN"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400" dirty="0">
                          <a:solidFill>
                            <a:schemeClr val="tx1"/>
                          </a:solidFill>
                          <a:latin typeface="Times New Roman" panose="02020603050405020304" pitchFamily="18" charset="0"/>
                          <a:cs typeface="Times New Roman" panose="02020603050405020304" pitchFamily="18" charset="0"/>
                        </a:rPr>
                        <a:t>Title of the paper</a:t>
                      </a:r>
                      <a:endParaRPr lang="en-IN"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400" dirty="0">
                          <a:solidFill>
                            <a:schemeClr val="tx1"/>
                          </a:solidFill>
                          <a:latin typeface="Times New Roman" panose="02020603050405020304" pitchFamily="18" charset="0"/>
                          <a:cs typeface="Times New Roman" panose="02020603050405020304" pitchFamily="18" charset="0"/>
                        </a:rPr>
                        <a:t>Methodology</a:t>
                      </a:r>
                      <a:endParaRPr lang="en-IN"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400" dirty="0">
                          <a:solidFill>
                            <a:schemeClr val="tx1"/>
                          </a:solidFill>
                          <a:latin typeface="Times New Roman" panose="02020603050405020304" pitchFamily="18" charset="0"/>
                          <a:cs typeface="Times New Roman" panose="02020603050405020304" pitchFamily="18" charset="0"/>
                        </a:rPr>
                        <a:t>Advantages</a:t>
                      </a:r>
                      <a:endParaRPr lang="en-IN"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1400" dirty="0">
                          <a:solidFill>
                            <a:schemeClr val="tx1"/>
                          </a:solidFill>
                          <a:latin typeface="Times New Roman" panose="02020603050405020304" pitchFamily="18" charset="0"/>
                          <a:cs typeface="Times New Roman" panose="02020603050405020304" pitchFamily="18" charset="0"/>
                        </a:rPr>
                        <a:t>Disadvantages</a:t>
                      </a:r>
                      <a:endParaRPr lang="en-IN"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2253387">
                <a:tc>
                  <a:txBody>
                    <a:bodyPr/>
                    <a:lstStyle/>
                    <a:p>
                      <a:pPr algn="just"/>
                      <a:r>
                        <a:rPr lang="en-US"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00000"/>
                        </a:lnSpc>
                        <a:tabLst>
                          <a:tab pos="0" algn="l"/>
                        </a:tabLst>
                      </a:pPr>
                      <a:r>
                        <a:rPr lang="en-US" sz="1400" b="0" dirty="0" smtClean="0">
                          <a:latin typeface="Times New Roman" pitchFamily="18" charset="0"/>
                          <a:cs typeface="Times New Roman" pitchFamily="18" charset="0"/>
                        </a:rPr>
                        <a:t>DNA-Based Storage of RDF Graph Data: A Futuristic Approach to Data Analytics – (</a:t>
                      </a:r>
                      <a:r>
                        <a:rPr lang="en-US" sz="1400" b="0" i="1" dirty="0" err="1" smtClean="0">
                          <a:latin typeface="Times New Roman" pitchFamily="18" charset="0"/>
                          <a:cs typeface="Times New Roman" pitchFamily="18" charset="0"/>
                        </a:rPr>
                        <a:t>Asad</a:t>
                      </a:r>
                      <a:r>
                        <a:rPr lang="en-US" sz="1400" b="0" i="1" dirty="0" smtClean="0">
                          <a:latin typeface="Times New Roman" pitchFamily="18" charset="0"/>
                          <a:cs typeface="Times New Roman" pitchFamily="18" charset="0"/>
                        </a:rPr>
                        <a:t> </a:t>
                      </a:r>
                      <a:r>
                        <a:rPr lang="en-US" sz="1400" b="0" i="1" dirty="0" err="1" smtClean="0">
                          <a:latin typeface="Times New Roman" pitchFamily="18" charset="0"/>
                          <a:cs typeface="Times New Roman" pitchFamily="18" charset="0"/>
                        </a:rPr>
                        <a:t>Usmani</a:t>
                      </a:r>
                      <a:r>
                        <a:rPr lang="en-US" sz="1400" b="0" i="1" dirty="0" smtClean="0">
                          <a:latin typeface="Times New Roman" pitchFamily="18" charset="0"/>
                          <a:cs typeface="Times New Roman" pitchFamily="18" charset="0"/>
                        </a:rPr>
                        <a:t> and Lena Wiese)</a:t>
                      </a:r>
                      <a:endParaRPr lang="en-US" sz="1400" b="0" strike="noStrike" spc="-1" dirty="0">
                        <a:solidFill>
                          <a:srgbClr val="00000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00000"/>
                        </a:lnSpc>
                      </a:pPr>
                      <a:r>
                        <a:rPr lang="en-IN" sz="1400" dirty="0" smtClean="0">
                          <a:latin typeface="Times New Roman" pitchFamily="18" charset="0"/>
                          <a:cs typeface="Times New Roman" pitchFamily="18" charset="0"/>
                        </a:rPr>
                        <a:t>This paper proposes using DNA as a storage medium for RDF (Resource Description Framework) graph data. It utilizes binary search to retrieve partial data by decoding fewer DNA strands, reducing sequencing costs. SPARQL</a:t>
                      </a:r>
                      <a:r>
                        <a:rPr lang="en-IN" sz="1400" baseline="0" dirty="0" smtClean="0">
                          <a:latin typeface="Times New Roman" pitchFamily="18" charset="0"/>
                          <a:cs typeface="Times New Roman" pitchFamily="18" charset="0"/>
                        </a:rPr>
                        <a:t> </a:t>
                      </a:r>
                      <a:r>
                        <a:rPr lang="en-IN" sz="1400" dirty="0" smtClean="0">
                          <a:latin typeface="Times New Roman" pitchFamily="18" charset="0"/>
                          <a:cs typeface="Times New Roman" pitchFamily="18" charset="0"/>
                        </a:rPr>
                        <a:t>queries are employed to efficiently retrieve data from large RDF datasets.</a:t>
                      </a:r>
                      <a:endParaRPr lang="en-US" sz="1400" b="0" strike="noStrike" spc="-1" dirty="0">
                        <a:solidFill>
                          <a:srgbClr val="00000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00000"/>
                        </a:lnSpc>
                      </a:pPr>
                      <a:r>
                        <a:rPr lang="en-US" sz="1400" dirty="0" smtClean="0">
                          <a:latin typeface="Times New Roman" pitchFamily="18" charset="0"/>
                          <a:cs typeface="Times New Roman" pitchFamily="18" charset="0"/>
                        </a:rPr>
                        <a:t>DNA storage offers a high-density, long-term solution for archiving digital data, significantly reducing the need for traditional storage methods.</a:t>
                      </a:r>
                      <a:endParaRPr lang="en-US" sz="1400" b="0" strike="noStrike" spc="-1" dirty="0">
                        <a:solidFill>
                          <a:srgbClr val="00000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00000"/>
                        </a:lnSpc>
                      </a:pPr>
                      <a:r>
                        <a:rPr lang="en-US" sz="1400" dirty="0" smtClean="0">
                          <a:latin typeface="Times New Roman" pitchFamily="18" charset="0"/>
                          <a:cs typeface="Times New Roman" pitchFamily="18" charset="0"/>
                        </a:rPr>
                        <a:t>DNA synthesis and sequencing remain costly and complex, limiting</a:t>
                      </a:r>
                      <a:r>
                        <a:rPr lang="en-US" sz="1400" baseline="0" dirty="0" smtClean="0">
                          <a:latin typeface="Times New Roman" pitchFamily="18" charset="0"/>
                          <a:cs typeface="Times New Roman" pitchFamily="18" charset="0"/>
                        </a:rPr>
                        <a:t> </a:t>
                      </a:r>
                      <a:r>
                        <a:rPr lang="en-US" sz="1400" dirty="0" smtClean="0">
                          <a:latin typeface="Times New Roman" pitchFamily="18" charset="0"/>
                          <a:cs typeface="Times New Roman" pitchFamily="18" charset="0"/>
                        </a:rPr>
                        <a:t>the scalability and widespread use of DNA storage systems.</a:t>
                      </a:r>
                      <a:endParaRPr lang="en-US" sz="1400" b="0" strike="noStrike" spc="-1" dirty="0">
                        <a:solidFill>
                          <a:srgbClr val="00000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2253387">
                <a:tc>
                  <a:txBody>
                    <a:bodyPr/>
                    <a:lstStyle/>
                    <a:p>
                      <a:pPr algn="just"/>
                      <a:r>
                        <a:rPr lang="en-US"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lnSpc>
                          <a:spcPct val="100000"/>
                        </a:lnSpc>
                        <a:tabLst>
                          <a:tab pos="0" algn="l"/>
                        </a:tabLst>
                      </a:pPr>
                      <a:r>
                        <a:rPr lang="en-IN" sz="1400" b="0" dirty="0" smtClean="0">
                          <a:latin typeface="Times New Roman" pitchFamily="18" charset="0"/>
                          <a:cs typeface="Times New Roman" pitchFamily="18" charset="0"/>
                        </a:rPr>
                        <a:t>Join Classifier of Type and Index Mutation on Lung Cancer DNA Using Sequential </a:t>
                      </a:r>
                      <a:r>
                        <a:rPr lang="en-IN" sz="1400" b="0" dirty="0" err="1" smtClean="0">
                          <a:latin typeface="Times New Roman" pitchFamily="18" charset="0"/>
                          <a:cs typeface="Times New Roman" pitchFamily="18" charset="0"/>
                        </a:rPr>
                        <a:t>Labeling</a:t>
                      </a:r>
                      <a:r>
                        <a:rPr lang="en-IN" sz="1400" b="0" dirty="0" smtClean="0">
                          <a:latin typeface="Times New Roman" pitchFamily="18" charset="0"/>
                          <a:cs typeface="Times New Roman" pitchFamily="18" charset="0"/>
                        </a:rPr>
                        <a:t> Model – (</a:t>
                      </a:r>
                      <a:r>
                        <a:rPr lang="en-IN" sz="1400" b="0" i="1" dirty="0" err="1" smtClean="0">
                          <a:latin typeface="Times New Roman" pitchFamily="18" charset="0"/>
                          <a:cs typeface="Times New Roman" pitchFamily="18" charset="0"/>
                        </a:rPr>
                        <a:t>Untari</a:t>
                      </a:r>
                      <a:r>
                        <a:rPr lang="en-IN" sz="1400" b="0" i="1" dirty="0" smtClean="0">
                          <a:latin typeface="Times New Roman" pitchFamily="18" charset="0"/>
                          <a:cs typeface="Times New Roman" pitchFamily="18" charset="0"/>
                        </a:rPr>
                        <a:t> </a:t>
                      </a:r>
                      <a:r>
                        <a:rPr lang="en-IN" sz="1400" b="0" i="1" dirty="0" err="1" smtClean="0">
                          <a:latin typeface="Times New Roman" pitchFamily="18" charset="0"/>
                          <a:cs typeface="Times New Roman" pitchFamily="18" charset="0"/>
                        </a:rPr>
                        <a:t>Novia</a:t>
                      </a:r>
                      <a:r>
                        <a:rPr lang="en-IN" sz="1400" b="0" i="1" dirty="0" smtClean="0">
                          <a:latin typeface="Times New Roman" pitchFamily="18" charset="0"/>
                          <a:cs typeface="Times New Roman" pitchFamily="18" charset="0"/>
                        </a:rPr>
                        <a:t> </a:t>
                      </a:r>
                      <a:r>
                        <a:rPr lang="en-IN" sz="1400" b="0" i="1" dirty="0" err="1" smtClean="0">
                          <a:latin typeface="Times New Roman" pitchFamily="18" charset="0"/>
                          <a:cs typeface="Times New Roman" pitchFamily="18" charset="0"/>
                        </a:rPr>
                        <a:t>Wisesty</a:t>
                      </a:r>
                      <a:r>
                        <a:rPr lang="en-IN" sz="1400" b="0" i="1" dirty="0" smtClean="0">
                          <a:latin typeface="Times New Roman" pitchFamily="18" charset="0"/>
                          <a:cs typeface="Times New Roman" pitchFamily="18" charset="0"/>
                        </a:rPr>
                        <a:t>, </a:t>
                      </a:r>
                      <a:r>
                        <a:rPr lang="en-IN" sz="1400" b="0" i="1" dirty="0" err="1" smtClean="0">
                          <a:latin typeface="Times New Roman" pitchFamily="18" charset="0"/>
                          <a:cs typeface="Times New Roman" pitchFamily="18" charset="0"/>
                        </a:rPr>
                        <a:t>Ayu</a:t>
                      </a:r>
                      <a:r>
                        <a:rPr lang="en-IN" sz="1400" b="0" i="1" dirty="0" smtClean="0">
                          <a:latin typeface="Times New Roman" pitchFamily="18" charset="0"/>
                          <a:cs typeface="Times New Roman" pitchFamily="18" charset="0"/>
                        </a:rPr>
                        <a:t> </a:t>
                      </a:r>
                      <a:r>
                        <a:rPr lang="en-IN" sz="1400" b="0" i="1" dirty="0" err="1" smtClean="0">
                          <a:latin typeface="Times New Roman" pitchFamily="18" charset="0"/>
                          <a:cs typeface="Times New Roman" pitchFamily="18" charset="0"/>
                        </a:rPr>
                        <a:t>Purwarianti</a:t>
                      </a:r>
                      <a:r>
                        <a:rPr lang="en-IN" sz="1400" b="0" i="1" dirty="0" smtClean="0">
                          <a:latin typeface="Times New Roman" pitchFamily="18" charset="0"/>
                          <a:cs typeface="Times New Roman" pitchFamily="18" charset="0"/>
                        </a:rPr>
                        <a:t>, </a:t>
                      </a:r>
                      <a:r>
                        <a:rPr lang="en-IN" sz="1400" b="0" i="1" dirty="0" err="1" smtClean="0">
                          <a:latin typeface="Times New Roman" pitchFamily="18" charset="0"/>
                          <a:cs typeface="Times New Roman" pitchFamily="18" charset="0"/>
                        </a:rPr>
                        <a:t>Adi</a:t>
                      </a:r>
                      <a:r>
                        <a:rPr lang="en-IN" sz="1400" b="0" i="1" dirty="0" smtClean="0">
                          <a:latin typeface="Times New Roman" pitchFamily="18" charset="0"/>
                          <a:cs typeface="Times New Roman" pitchFamily="18" charset="0"/>
                        </a:rPr>
                        <a:t> </a:t>
                      </a:r>
                      <a:r>
                        <a:rPr lang="en-IN" sz="1400" b="0" i="1" dirty="0" err="1" smtClean="0">
                          <a:latin typeface="Times New Roman" pitchFamily="18" charset="0"/>
                          <a:cs typeface="Times New Roman" pitchFamily="18" charset="0"/>
                        </a:rPr>
                        <a:t>Pancoro</a:t>
                      </a:r>
                      <a:r>
                        <a:rPr lang="en-IN" sz="1400" b="0" i="1" dirty="0" smtClean="0">
                          <a:latin typeface="Times New Roman" pitchFamily="18" charset="0"/>
                          <a:cs typeface="Times New Roman" pitchFamily="18" charset="0"/>
                        </a:rPr>
                        <a:t>, Amrita </a:t>
                      </a:r>
                      <a:r>
                        <a:rPr lang="en-IN" sz="1400" b="0" i="1" dirty="0" err="1" smtClean="0">
                          <a:latin typeface="Times New Roman" pitchFamily="18" charset="0"/>
                          <a:cs typeface="Times New Roman" pitchFamily="18" charset="0"/>
                        </a:rPr>
                        <a:t>Chattopadhyay</a:t>
                      </a:r>
                      <a:r>
                        <a:rPr lang="en-IN" sz="1400" b="0" i="1" dirty="0" smtClean="0">
                          <a:latin typeface="Times New Roman" pitchFamily="18" charset="0"/>
                          <a:cs typeface="Times New Roman" pitchFamily="18" charset="0"/>
                        </a:rPr>
                        <a:t>, Nam </a:t>
                      </a:r>
                      <a:r>
                        <a:rPr lang="en-IN" sz="1400" b="0" i="1" dirty="0" err="1" smtClean="0">
                          <a:latin typeface="Times New Roman" pitchFamily="18" charset="0"/>
                          <a:cs typeface="Times New Roman" pitchFamily="18" charset="0"/>
                        </a:rPr>
                        <a:t>Nhut</a:t>
                      </a:r>
                      <a:r>
                        <a:rPr lang="en-IN" sz="1400" b="0" i="1" dirty="0" smtClean="0">
                          <a:latin typeface="Times New Roman" pitchFamily="18" charset="0"/>
                          <a:cs typeface="Times New Roman" pitchFamily="18" charset="0"/>
                        </a:rPr>
                        <a:t> </a:t>
                      </a:r>
                      <a:r>
                        <a:rPr lang="en-IN" sz="1400" b="0" i="1" dirty="0" err="1" smtClean="0">
                          <a:latin typeface="Times New Roman" pitchFamily="18" charset="0"/>
                          <a:cs typeface="Times New Roman" pitchFamily="18" charset="0"/>
                        </a:rPr>
                        <a:t>Phan</a:t>
                      </a:r>
                      <a:r>
                        <a:rPr lang="en-IN" sz="1400" b="0" i="1" dirty="0" smtClean="0">
                          <a:latin typeface="Times New Roman" pitchFamily="18" charset="0"/>
                          <a:cs typeface="Times New Roman" pitchFamily="18" charset="0"/>
                        </a:rPr>
                        <a:t>, Eric Y. Chuang, </a:t>
                      </a:r>
                      <a:r>
                        <a:rPr lang="en-IN" sz="1400" b="0" i="1" dirty="0" err="1" smtClean="0">
                          <a:latin typeface="Times New Roman" pitchFamily="18" charset="0"/>
                          <a:cs typeface="Times New Roman" pitchFamily="18" charset="0"/>
                        </a:rPr>
                        <a:t>Tati</a:t>
                      </a:r>
                      <a:r>
                        <a:rPr lang="en-IN" sz="1400" b="0" i="1" dirty="0" smtClean="0">
                          <a:latin typeface="Times New Roman" pitchFamily="18" charset="0"/>
                          <a:cs typeface="Times New Roman" pitchFamily="18" charset="0"/>
                        </a:rPr>
                        <a:t> Rajab </a:t>
                      </a:r>
                      <a:r>
                        <a:rPr lang="en-IN" sz="1400" dirty="0" err="1" smtClean="0">
                          <a:latin typeface="Times New Roman" pitchFamily="18" charset="0"/>
                          <a:cs typeface="Times New Roman" pitchFamily="18" charset="0"/>
                        </a:rPr>
                        <a:t>Mengko</a:t>
                      </a:r>
                      <a:r>
                        <a:rPr lang="en-IN" sz="1400" dirty="0" smtClean="0">
                          <a:latin typeface="Times New Roman" pitchFamily="18" charset="0"/>
                          <a:cs typeface="Times New Roman" pitchFamily="18" charset="0"/>
                        </a:rPr>
                        <a:t>)</a:t>
                      </a:r>
                      <a:endParaRPr lang="en-US" sz="1400" b="0" strike="noStrike" spc="-1" dirty="0">
                        <a:solidFill>
                          <a:srgbClr val="00000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00000"/>
                        </a:lnSpc>
                      </a:pPr>
                      <a:r>
                        <a:rPr lang="en-US" sz="1400" dirty="0" smtClean="0">
                          <a:latin typeface="Times New Roman" pitchFamily="18" charset="0"/>
                          <a:cs typeface="Times New Roman" pitchFamily="18" charset="0"/>
                        </a:rPr>
                        <a:t>The paper introduces a sequential labeling model that uses deep learning techniques like </a:t>
                      </a:r>
                      <a:r>
                        <a:rPr lang="en-US" sz="1400" dirty="0" err="1" smtClean="0">
                          <a:latin typeface="Times New Roman" pitchFamily="18" charset="0"/>
                          <a:cs typeface="Times New Roman" pitchFamily="18" charset="0"/>
                        </a:rPr>
                        <a:t>BiLSTM</a:t>
                      </a:r>
                      <a:r>
                        <a:rPr lang="en-US" sz="1400" dirty="0" smtClean="0">
                          <a:latin typeface="Times New Roman" pitchFamily="18" charset="0"/>
                          <a:cs typeface="Times New Roman" pitchFamily="18" charset="0"/>
                        </a:rPr>
                        <a:t> and Bi-GRU to classify DNA mutations (substitution, insertion, deletion, and </a:t>
                      </a:r>
                      <a:r>
                        <a:rPr lang="en-US" sz="1400" dirty="0" err="1" smtClean="0">
                          <a:latin typeface="Times New Roman" pitchFamily="18" charset="0"/>
                          <a:cs typeface="Times New Roman" pitchFamily="18" charset="0"/>
                        </a:rPr>
                        <a:t>delins</a:t>
                      </a:r>
                      <a:r>
                        <a:rPr lang="en-US" sz="1400" dirty="0" smtClean="0">
                          <a:latin typeface="Times New Roman" pitchFamily="18" charset="0"/>
                          <a:cs typeface="Times New Roman" pitchFamily="18" charset="0"/>
                        </a:rPr>
                        <a:t>) in lung cancer sequences. It does not require realignment of reference sequences for mutation detection.</a:t>
                      </a:r>
                      <a:endParaRPr lang="en-US" sz="1400" b="0" strike="noStrike" spc="-1" dirty="0">
                        <a:solidFill>
                          <a:srgbClr val="00000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00000"/>
                        </a:lnSpc>
                      </a:pPr>
                      <a:r>
                        <a:rPr lang="en-US" sz="1400" dirty="0" smtClean="0">
                          <a:latin typeface="Times New Roman" pitchFamily="18" charset="0"/>
                          <a:cs typeface="Times New Roman" pitchFamily="18" charset="0"/>
                        </a:rPr>
                        <a:t>The model achieves high accuracy and faster processing for mutation detection, without needing to realign reference sequences, making it more efficient.</a:t>
                      </a:r>
                      <a:endParaRPr lang="en-US" sz="1400" b="0" strike="noStrike" spc="-1" dirty="0">
                        <a:solidFill>
                          <a:srgbClr val="00000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lnSpc>
                          <a:spcPct val="100000"/>
                        </a:lnSpc>
                      </a:pPr>
                      <a:r>
                        <a:rPr lang="en-US" sz="1400" dirty="0" smtClean="0">
                          <a:latin typeface="Times New Roman" pitchFamily="18" charset="0"/>
                          <a:cs typeface="Times New Roman" pitchFamily="18" charset="0"/>
                        </a:rPr>
                        <a:t>It requires large annotated datasets and significant computational resources, which can be challenging for real-time applications in clinical settings.</a:t>
                      </a:r>
                      <a:endParaRPr lang="en-US" sz="1400" b="0" strike="noStrike" spc="-1" dirty="0">
                        <a:solidFill>
                          <a:srgbClr val="00000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634596" y="6326884"/>
            <a:ext cx="2057400" cy="365125"/>
          </a:xfrm>
        </p:spPr>
        <p:txBody>
          <a:bodyPr/>
          <a:lstStyle/>
          <a:p>
            <a:fld id="{9D3FF152-60F5-4862-82F9-1190556AA56F}" type="slidenum">
              <a:rPr lang="en-IN" sz="1400" b="1" smtClean="0">
                <a:solidFill>
                  <a:schemeClr val="tx1"/>
                </a:solidFill>
              </a:rPr>
              <a:t>7</a:t>
            </a:fld>
            <a:endParaRPr lang="en-IN" sz="1400" b="1" dirty="0">
              <a:solidFill>
                <a:schemeClr val="tx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393990821"/>
              </p:ext>
            </p:extLst>
          </p:nvPr>
        </p:nvGraphicFramePr>
        <p:xfrm>
          <a:off x="452006" y="185376"/>
          <a:ext cx="8342039" cy="6079958"/>
        </p:xfrm>
        <a:graphic>
          <a:graphicData uri="http://schemas.openxmlformats.org/drawingml/2006/table">
            <a:tbl>
              <a:tblPr firstRow="1" bandRow="1">
                <a:tableStyleId>{5C22544A-7EE6-4342-B048-85BDC9FD1C3A}</a:tableStyleId>
              </a:tblPr>
              <a:tblGrid>
                <a:gridCol w="539757">
                  <a:extLst>
                    <a:ext uri="{9D8B030D-6E8A-4147-A177-3AD203B41FA5}">
                      <a16:colId xmlns:a16="http://schemas.microsoft.com/office/drawing/2014/main" xmlns="" val="20000"/>
                    </a:ext>
                  </a:extLst>
                </a:gridCol>
                <a:gridCol w="2075107">
                  <a:extLst>
                    <a:ext uri="{9D8B030D-6E8A-4147-A177-3AD203B41FA5}">
                      <a16:colId xmlns:a16="http://schemas.microsoft.com/office/drawing/2014/main" xmlns="" val="20001"/>
                    </a:ext>
                  </a:extLst>
                </a:gridCol>
                <a:gridCol w="2390359">
                  <a:extLst>
                    <a:ext uri="{9D8B030D-6E8A-4147-A177-3AD203B41FA5}">
                      <a16:colId xmlns:a16="http://schemas.microsoft.com/office/drawing/2014/main" xmlns="" val="20002"/>
                    </a:ext>
                  </a:extLst>
                </a:gridCol>
                <a:gridCol w="1668408">
                  <a:extLst>
                    <a:ext uri="{9D8B030D-6E8A-4147-A177-3AD203B41FA5}">
                      <a16:colId xmlns:a16="http://schemas.microsoft.com/office/drawing/2014/main" xmlns="" val="20003"/>
                    </a:ext>
                  </a:extLst>
                </a:gridCol>
                <a:gridCol w="1668408">
                  <a:extLst>
                    <a:ext uri="{9D8B030D-6E8A-4147-A177-3AD203B41FA5}">
                      <a16:colId xmlns:a16="http://schemas.microsoft.com/office/drawing/2014/main" xmlns="" val="20004"/>
                    </a:ext>
                  </a:extLst>
                </a:gridCol>
              </a:tblGrid>
              <a:tr h="3039979">
                <a:tc>
                  <a:txBody>
                    <a:bodyPr/>
                    <a:lstStyle/>
                    <a:p>
                      <a:pPr algn="just"/>
                      <a:r>
                        <a:rPr lang="en-US" b="0" dirty="0">
                          <a:solidFill>
                            <a:schemeClr val="tx1"/>
                          </a:solidFill>
                        </a:rPr>
                        <a:t>3.</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1400" b="0" dirty="0" smtClean="0">
                          <a:solidFill>
                            <a:schemeClr val="tx1"/>
                          </a:solidFill>
                          <a:latin typeface="Times New Roman" pitchFamily="18" charset="0"/>
                          <a:cs typeface="Times New Roman" pitchFamily="18" charset="0"/>
                        </a:rPr>
                        <a:t>U.S. Adult Perspectives on Facial Images, DNA, and Other Biometrics – (</a:t>
                      </a:r>
                      <a:r>
                        <a:rPr lang="en-IN" sz="1400" b="0" i="1" dirty="0" smtClean="0">
                          <a:solidFill>
                            <a:schemeClr val="tx1"/>
                          </a:solidFill>
                          <a:latin typeface="Times New Roman" pitchFamily="18" charset="0"/>
                          <a:cs typeface="Times New Roman" pitchFamily="18" charset="0"/>
                        </a:rPr>
                        <a:t>Sara H. </a:t>
                      </a:r>
                      <a:r>
                        <a:rPr lang="en-IN" sz="1400" b="0" i="1" dirty="0" err="1" smtClean="0">
                          <a:solidFill>
                            <a:schemeClr val="tx1"/>
                          </a:solidFill>
                          <a:latin typeface="Times New Roman" pitchFamily="18" charset="0"/>
                          <a:cs typeface="Times New Roman" pitchFamily="18" charset="0"/>
                        </a:rPr>
                        <a:t>Katsanis</a:t>
                      </a:r>
                      <a:r>
                        <a:rPr lang="en-IN" sz="1400" b="0" i="1" dirty="0" smtClean="0">
                          <a:solidFill>
                            <a:schemeClr val="tx1"/>
                          </a:solidFill>
                          <a:latin typeface="Times New Roman" pitchFamily="18" charset="0"/>
                          <a:cs typeface="Times New Roman" pitchFamily="18" charset="0"/>
                        </a:rPr>
                        <a:t>, Peter </a:t>
                      </a:r>
                      <a:r>
                        <a:rPr lang="en-IN" sz="1400" b="0" i="1" dirty="0" err="1" smtClean="0">
                          <a:solidFill>
                            <a:schemeClr val="tx1"/>
                          </a:solidFill>
                          <a:latin typeface="Times New Roman" pitchFamily="18" charset="0"/>
                          <a:cs typeface="Times New Roman" pitchFamily="18" charset="0"/>
                        </a:rPr>
                        <a:t>Claes</a:t>
                      </a:r>
                      <a:r>
                        <a:rPr lang="en-IN" sz="1400" b="0" i="1" dirty="0" smtClean="0">
                          <a:solidFill>
                            <a:schemeClr val="tx1"/>
                          </a:solidFill>
                          <a:latin typeface="Times New Roman" pitchFamily="18" charset="0"/>
                          <a:cs typeface="Times New Roman" pitchFamily="18" charset="0"/>
                        </a:rPr>
                        <a:t>, Megan </a:t>
                      </a:r>
                      <a:r>
                        <a:rPr lang="en-IN" sz="1400" b="0" i="1" dirty="0" err="1" smtClean="0">
                          <a:solidFill>
                            <a:schemeClr val="tx1"/>
                          </a:solidFill>
                          <a:latin typeface="Times New Roman" pitchFamily="18" charset="0"/>
                          <a:cs typeface="Times New Roman" pitchFamily="18" charset="0"/>
                        </a:rPr>
                        <a:t>Doerr</a:t>
                      </a:r>
                      <a:r>
                        <a:rPr lang="en-IN" sz="1400" b="0" i="1" dirty="0" smtClean="0">
                          <a:solidFill>
                            <a:schemeClr val="tx1"/>
                          </a:solidFill>
                          <a:latin typeface="Times New Roman" pitchFamily="18" charset="0"/>
                          <a:cs typeface="Times New Roman" pitchFamily="18" charset="0"/>
                        </a:rPr>
                        <a:t>, Robert Cook-Deegan, Jessica D. </a:t>
                      </a:r>
                      <a:r>
                        <a:rPr lang="en-IN" sz="1400" b="0" i="1" dirty="0" err="1" smtClean="0">
                          <a:solidFill>
                            <a:schemeClr val="tx1"/>
                          </a:solidFill>
                          <a:latin typeface="Times New Roman" pitchFamily="18" charset="0"/>
                          <a:cs typeface="Times New Roman" pitchFamily="18" charset="0"/>
                        </a:rPr>
                        <a:t>Tenenbaum</a:t>
                      </a:r>
                      <a:r>
                        <a:rPr lang="en-IN" sz="1400" b="0" i="1" dirty="0" smtClean="0">
                          <a:solidFill>
                            <a:schemeClr val="tx1"/>
                          </a:solidFill>
                          <a:latin typeface="Times New Roman" pitchFamily="18" charset="0"/>
                          <a:cs typeface="Times New Roman" pitchFamily="18" charset="0"/>
                        </a:rPr>
                        <a:t>, Barbara J. Evans, </a:t>
                      </a:r>
                      <a:r>
                        <a:rPr lang="en-IN" sz="1400" b="0" i="1" dirty="0" err="1" smtClean="0">
                          <a:solidFill>
                            <a:schemeClr val="tx1"/>
                          </a:solidFill>
                          <a:latin typeface="Times New Roman" pitchFamily="18" charset="0"/>
                          <a:cs typeface="Times New Roman" pitchFamily="18" charset="0"/>
                        </a:rPr>
                        <a:t>MyoungKeun</a:t>
                      </a:r>
                      <a:r>
                        <a:rPr lang="en-IN" sz="1400" b="0" i="1" dirty="0" smtClean="0">
                          <a:solidFill>
                            <a:schemeClr val="tx1"/>
                          </a:solidFill>
                          <a:latin typeface="Times New Roman" pitchFamily="18" charset="0"/>
                          <a:cs typeface="Times New Roman" pitchFamily="18" charset="0"/>
                        </a:rPr>
                        <a:t> Lee, Joel </a:t>
                      </a:r>
                      <a:r>
                        <a:rPr lang="en-IN" sz="1400" b="0" i="1" dirty="0" err="1" smtClean="0">
                          <a:solidFill>
                            <a:schemeClr val="tx1"/>
                          </a:solidFill>
                          <a:latin typeface="Times New Roman" pitchFamily="18" charset="0"/>
                          <a:cs typeface="Times New Roman" pitchFamily="18" charset="0"/>
                        </a:rPr>
                        <a:t>Anderton</a:t>
                      </a:r>
                      <a:r>
                        <a:rPr lang="en-IN" sz="1400" b="0" i="1" dirty="0" smtClean="0">
                          <a:solidFill>
                            <a:schemeClr val="tx1"/>
                          </a:solidFill>
                          <a:latin typeface="Times New Roman" pitchFamily="18" charset="0"/>
                          <a:cs typeface="Times New Roman" pitchFamily="18" charset="0"/>
                        </a:rPr>
                        <a:t>, Seth M. Weinberg, Jennifer K. Wagner</a:t>
                      </a:r>
                      <a:r>
                        <a:rPr lang="en-IN" sz="1400" b="0" i="0" dirty="0">
                          <a:solidFill>
                            <a:schemeClr val="tx1"/>
                          </a:solidFill>
                          <a:latin typeface="Times New Roman" pitchFamily="18" charset="0"/>
                          <a:cs typeface="Times New Roman" pitchFamily="18" charset="0"/>
                        </a:rPr>
                        <a:t>)</a:t>
                      </a:r>
                      <a:endParaRPr lang="en-US" sz="1400" b="0" strike="noStrike" spc="-1" dirty="0" smtClean="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lnSpc>
                          <a:spcPct val="100000"/>
                        </a:lnSpc>
                      </a:pPr>
                      <a:r>
                        <a:rPr lang="en-US" sz="1400" b="0" dirty="0" smtClean="0">
                          <a:solidFill>
                            <a:schemeClr val="tx1"/>
                          </a:solidFill>
                          <a:latin typeface="Times New Roman" pitchFamily="18" charset="0"/>
                          <a:cs typeface="Times New Roman" pitchFamily="18" charset="0"/>
                        </a:rPr>
                        <a:t>The study surveys 4048 U.S. adults, assessing their comfort and trust in providing facial and DNA biometrics in various scenarios. It examines factors like perceived effectiveness and acceptance of biometric data usage across different tasks and privacy concerns.</a:t>
                      </a:r>
                      <a:endParaRPr lang="en-US" sz="1400" b="0" strike="noStrike" spc="-1"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r>
                        <a:rPr kumimoji="0" lang="en-US" sz="1400" b="0" i="0" u="none" strike="noStrike" kern="0" cap="none" spc="0" normalizeH="0" baseline="0" noProof="0" dirty="0" smtClean="0">
                          <a:ln>
                            <a:noFill/>
                          </a:ln>
                          <a:solidFill>
                            <a:srgbClr val="000000"/>
                          </a:solidFill>
                          <a:effectLst/>
                          <a:uLnTx/>
                          <a:uFillTx/>
                          <a:latin typeface="Times New Roman" pitchFamily="18" charset="0"/>
                          <a:cs typeface="Times New Roman" pitchFamily="18" charset="0"/>
                        </a:rPr>
                        <a:t>The survey provides useful insights into public perceptions of biometrics, helping shape informed policy decisions regarding biometric data usage</a:t>
                      </a:r>
                      <a:endParaRPr lang="en-IN"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smtClean="0">
                          <a:ln>
                            <a:noFill/>
                          </a:ln>
                          <a:solidFill>
                            <a:srgbClr val="000000"/>
                          </a:solidFill>
                          <a:effectLst/>
                          <a:uLnTx/>
                          <a:uFillTx/>
                          <a:latin typeface="Times New Roman" pitchFamily="18" charset="0"/>
                          <a:cs typeface="Times New Roman" pitchFamily="18" charset="0"/>
                        </a:rPr>
                        <a:t>The study's focus on the U.S. population and reliance on self-reported data may limit its generalizability to other regions or real-world behaviors.</a:t>
                      </a:r>
                      <a:endParaRPr kumimoji="0" lang="en-US" sz="1400" b="0" i="0" u="none" strike="noStrike" kern="0" cap="none" spc="-1" normalizeH="0" baseline="0" noProof="0" dirty="0">
                        <a:ln>
                          <a:noFill/>
                        </a:ln>
                        <a:solidFill>
                          <a:srgbClr val="000000"/>
                        </a:solidFill>
                        <a:effectLst/>
                        <a:uLnTx/>
                        <a:uFillTx/>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0"/>
                  </a:ext>
                </a:extLst>
              </a:tr>
              <a:tr h="3039979">
                <a:tc>
                  <a:txBody>
                    <a:bodyPr/>
                    <a:lstStyle/>
                    <a:p>
                      <a:pPr algn="just"/>
                      <a:r>
                        <a:rPr lang="en-US" b="0" dirty="0">
                          <a:solidFill>
                            <a:schemeClr val="tx1"/>
                          </a:solidFill>
                        </a:rPr>
                        <a:t>4.</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lnSpc>
                          <a:spcPct val="100000"/>
                        </a:lnSpc>
                      </a:pPr>
                      <a:r>
                        <a:rPr lang="en-IN" sz="1400" b="0" dirty="0" smtClean="0">
                          <a:latin typeface="Times New Roman" pitchFamily="18" charset="0"/>
                          <a:cs typeface="Times New Roman" pitchFamily="18" charset="0"/>
                        </a:rPr>
                        <a:t>DNA Privacy: </a:t>
                      </a:r>
                      <a:r>
                        <a:rPr lang="en-IN" sz="1400" b="0" dirty="0" err="1" smtClean="0">
                          <a:latin typeface="Times New Roman" pitchFamily="18" charset="0"/>
                          <a:cs typeface="Times New Roman" pitchFamily="18" charset="0"/>
                        </a:rPr>
                        <a:t>Analyzing</a:t>
                      </a:r>
                      <a:r>
                        <a:rPr lang="en-IN" sz="1400" b="0" dirty="0" smtClean="0">
                          <a:latin typeface="Times New Roman" pitchFamily="18" charset="0"/>
                          <a:cs typeface="Times New Roman" pitchFamily="18" charset="0"/>
                        </a:rPr>
                        <a:t> Malicious DNA Sequences Using Deep Neural Networks – (</a:t>
                      </a:r>
                      <a:r>
                        <a:rPr lang="en-IN" sz="1400" b="0" i="1" dirty="0" err="1" smtClean="0">
                          <a:latin typeface="Times New Roman" pitchFamily="18" charset="0"/>
                          <a:cs typeface="Times New Roman" pitchFamily="18" charset="0"/>
                        </a:rPr>
                        <a:t>Ho</a:t>
                      </a:r>
                      <a:r>
                        <a:rPr lang="en-IN" sz="1400" b="0" i="1" dirty="0" smtClean="0">
                          <a:latin typeface="Times New Roman" pitchFamily="18" charset="0"/>
                          <a:cs typeface="Times New Roman" pitchFamily="18" charset="0"/>
                        </a:rPr>
                        <a:t> </a:t>
                      </a:r>
                      <a:r>
                        <a:rPr lang="en-IN" sz="1400" b="0" i="1" dirty="0" err="1" smtClean="0">
                          <a:latin typeface="Times New Roman" pitchFamily="18" charset="0"/>
                          <a:cs typeface="Times New Roman" pitchFamily="18" charset="0"/>
                        </a:rPr>
                        <a:t>Bae</a:t>
                      </a:r>
                      <a:r>
                        <a:rPr lang="en-IN" sz="1400" b="0" i="1" dirty="0" smtClean="0">
                          <a:latin typeface="Times New Roman" pitchFamily="18" charset="0"/>
                          <a:cs typeface="Times New Roman" pitchFamily="18" charset="0"/>
                        </a:rPr>
                        <a:t>, </a:t>
                      </a:r>
                      <a:r>
                        <a:rPr lang="en-IN" sz="1400" b="0" i="1" dirty="0" err="1" smtClean="0">
                          <a:latin typeface="Times New Roman" pitchFamily="18" charset="0"/>
                          <a:cs typeface="Times New Roman" pitchFamily="18" charset="0"/>
                        </a:rPr>
                        <a:t>Seonwoo</a:t>
                      </a:r>
                      <a:r>
                        <a:rPr lang="en-IN" sz="1400" b="0" i="1" dirty="0" smtClean="0">
                          <a:latin typeface="Times New Roman" pitchFamily="18" charset="0"/>
                          <a:cs typeface="Times New Roman" pitchFamily="18" charset="0"/>
                        </a:rPr>
                        <a:t> Min, Hyun-</a:t>
                      </a:r>
                      <a:r>
                        <a:rPr lang="en-IN" sz="1400" b="0" i="1" dirty="0" err="1" smtClean="0">
                          <a:latin typeface="Times New Roman" pitchFamily="18" charset="0"/>
                          <a:cs typeface="Times New Roman" pitchFamily="18" charset="0"/>
                        </a:rPr>
                        <a:t>Soo</a:t>
                      </a:r>
                      <a:r>
                        <a:rPr lang="en-IN" sz="1400" b="0" i="1" dirty="0" smtClean="0">
                          <a:latin typeface="Times New Roman" pitchFamily="18" charset="0"/>
                          <a:cs typeface="Times New Roman" pitchFamily="18" charset="0"/>
                        </a:rPr>
                        <a:t> Choi, </a:t>
                      </a:r>
                      <a:r>
                        <a:rPr lang="en-IN" sz="1400" b="0" i="1" dirty="0" err="1" smtClean="0">
                          <a:latin typeface="Times New Roman" pitchFamily="18" charset="0"/>
                          <a:cs typeface="Times New Roman" pitchFamily="18" charset="0"/>
                        </a:rPr>
                        <a:t>Sungroh</a:t>
                      </a:r>
                      <a:r>
                        <a:rPr lang="en-IN" sz="1400" b="0" i="1" dirty="0" smtClean="0">
                          <a:latin typeface="Times New Roman" pitchFamily="18" charset="0"/>
                          <a:cs typeface="Times New Roman" pitchFamily="18" charset="0"/>
                        </a:rPr>
                        <a:t> Yoon)</a:t>
                      </a:r>
                      <a:endParaRPr lang="en-US" sz="1400" b="0" strike="noStrike" spc="-1" dirty="0">
                        <a:solidFill>
                          <a:srgbClr val="00000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just">
                        <a:lnSpc>
                          <a:spcPct val="100000"/>
                        </a:lnSpc>
                      </a:pPr>
                      <a:r>
                        <a:rPr lang="en-US" sz="1400" dirty="0" smtClean="0">
                          <a:latin typeface="Times New Roman" pitchFamily="18" charset="0"/>
                          <a:cs typeface="Times New Roman" pitchFamily="18" charset="0"/>
                        </a:rPr>
                        <a:t>This paper proposes a deep learning approach to detect malicious DNA sequences that may contain hidden data (steganography). It uses neural networks to classify DNA sequences as coding or non-coding and identifies if hidden, harmful data is present.</a:t>
                      </a:r>
                      <a:endParaRPr lang="en-US" sz="1400" b="0" strike="noStrike" spc="-1" dirty="0">
                        <a:solidFill>
                          <a:srgbClr val="000000"/>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400" dirty="0" smtClean="0">
                          <a:latin typeface="Times New Roman" pitchFamily="18" charset="0"/>
                          <a:cs typeface="Times New Roman" pitchFamily="18" charset="0"/>
                        </a:rPr>
                        <a:t>It offers an effective method to protect DNA data from malicious alterations and steganography, enhancing DNA data privacy.</a:t>
                      </a:r>
                      <a:endParaRPr lang="en-US" sz="1400" b="0" strike="noStrike" spc="-1" dirty="0" smtClean="0">
                        <a:solidFill>
                          <a:srgbClr val="000000"/>
                        </a:solidFill>
                        <a:latin typeface="Times New Roman" pitchFamily="18" charset="0"/>
                        <a:cs typeface="Times New Roman" pitchFamily="18" charset="0"/>
                      </a:endParaRPr>
                    </a:p>
                    <a:p>
                      <a:pPr algn="just"/>
                      <a:r>
                        <a:rPr lang="en-IN" sz="1400" b="0" dirty="0" smtClean="0">
                          <a:solidFill>
                            <a:schemeClr val="tx1"/>
                          </a:solidFill>
                          <a:latin typeface="Times New Roman" panose="02020603050405020304" pitchFamily="18" charset="0"/>
                          <a:cs typeface="Times New Roman" panose="02020603050405020304" pitchFamily="18" charset="0"/>
                        </a:rPr>
                        <a:t> </a:t>
                      </a:r>
                      <a:endParaRPr lang="en-IN" sz="14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sz="1400" dirty="0" smtClean="0">
                          <a:latin typeface="Times New Roman" pitchFamily="18" charset="0"/>
                          <a:cs typeface="Times New Roman" pitchFamily="18" charset="0"/>
                        </a:rPr>
                        <a:t>The method requires substantial computational resources and large datasets for training the neural networks, which may limit its real-time applicability.</a:t>
                      </a:r>
                      <a:endParaRPr lang="en-US" sz="1400"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D3FF152-60F5-4862-82F9-1190556AA56F}" type="slidenum">
              <a:rPr lang="en-IN" sz="1400" b="1" smtClean="0">
                <a:solidFill>
                  <a:schemeClr val="tx1"/>
                </a:solidFill>
              </a:rPr>
              <a:t>8</a:t>
            </a:fld>
            <a:endParaRPr lang="en-IN" sz="1400" b="1" dirty="0">
              <a:solidFill>
                <a:schemeClr val="tx1"/>
              </a:solidFill>
            </a:endParaRPr>
          </a:p>
        </p:txBody>
      </p:sp>
      <p:graphicFrame>
        <p:nvGraphicFramePr>
          <p:cNvPr id="7" name="Table 98"/>
          <p:cNvGraphicFramePr/>
          <p:nvPr>
            <p:extLst>
              <p:ext uri="{D42A27DB-BD31-4B8C-83A1-F6EECF244321}">
                <p14:modId xmlns:p14="http://schemas.microsoft.com/office/powerpoint/2010/main" val="2704753071"/>
              </p:ext>
            </p:extLst>
          </p:nvPr>
        </p:nvGraphicFramePr>
        <p:xfrm>
          <a:off x="338061" y="302132"/>
          <a:ext cx="8467271" cy="3078480"/>
        </p:xfrm>
        <a:graphic>
          <a:graphicData uri="http://schemas.openxmlformats.org/drawingml/2006/table">
            <a:tbl>
              <a:tblPr/>
              <a:tblGrid>
                <a:gridCol w="463094"/>
                <a:gridCol w="1851858"/>
                <a:gridCol w="2295451"/>
                <a:gridCol w="1911663"/>
                <a:gridCol w="1945205"/>
              </a:tblGrid>
              <a:tr h="3025625">
                <a:tc>
                  <a:txBody>
                    <a:bodyPr/>
                    <a:lstStyle/>
                    <a:p>
                      <a:pPr algn="just">
                        <a:lnSpc>
                          <a:spcPct val="100000"/>
                        </a:lnSpc>
                      </a:pPr>
                      <a:r>
                        <a:rPr lang="en-US" sz="1400" b="0" strike="noStrike" spc="-1" dirty="0">
                          <a:solidFill>
                            <a:srgbClr val="000000"/>
                          </a:solidFill>
                          <a:latin typeface="Times New Roman"/>
                        </a:rPr>
                        <a:t>5</a:t>
                      </a:r>
                      <a:endParaRPr lang="en-US" sz="1400" b="0" strike="noStrike" spc="-1" dirty="0">
                        <a:solidFill>
                          <a:srgbClr val="000000"/>
                        </a:solidFill>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400" dirty="0" err="1" smtClean="0">
                          <a:latin typeface="Times New Roman" pitchFamily="18" charset="0"/>
                          <a:cs typeface="Times New Roman" pitchFamily="18" charset="0"/>
                        </a:rPr>
                        <a:t>Vivern</a:t>
                      </a:r>
                      <a:r>
                        <a:rPr lang="en-US" sz="1400" dirty="0" smtClean="0">
                          <a:latin typeface="Times New Roman" pitchFamily="18" charset="0"/>
                          <a:cs typeface="Times New Roman" pitchFamily="18" charset="0"/>
                        </a:rPr>
                        <a:t>–A Virtual Environment for </a:t>
                      </a:r>
                      <a:r>
                        <a:rPr lang="en-US" sz="1400" dirty="0" err="1" smtClean="0">
                          <a:latin typeface="Times New Roman" pitchFamily="18" charset="0"/>
                          <a:cs typeface="Times New Roman" pitchFamily="18" charset="0"/>
                        </a:rPr>
                        <a:t>Multiscale</a:t>
                      </a:r>
                      <a:r>
                        <a:rPr lang="en-US" sz="1400" dirty="0" smtClean="0">
                          <a:latin typeface="Times New Roman" pitchFamily="18" charset="0"/>
                          <a:cs typeface="Times New Roman" pitchFamily="18" charset="0"/>
                        </a:rPr>
                        <a:t> Visualization and Modeling of DNA Nanostructures</a:t>
                      </a:r>
                      <a:r>
                        <a:rPr lang="en-US" sz="1400" baseline="0" dirty="0" smtClean="0">
                          <a:latin typeface="Times New Roman" pitchFamily="18" charset="0"/>
                          <a:cs typeface="Times New Roman" pitchFamily="18" charset="0"/>
                        </a:rPr>
                        <a:t> (</a:t>
                      </a:r>
                      <a:r>
                        <a:rPr lang="en-US" sz="1400" dirty="0" smtClean="0">
                          <a:latin typeface="Times New Roman" pitchFamily="18" charset="0"/>
                          <a:cs typeface="Times New Roman" pitchFamily="18" charset="0"/>
                        </a:rPr>
                        <a:t>David Ku </a:t>
                      </a:r>
                      <a:r>
                        <a:rPr lang="en-US" sz="1400" dirty="0" err="1" smtClean="0">
                          <a:latin typeface="Times New Roman" pitchFamily="18" charset="0"/>
                          <a:cs typeface="Times New Roman" pitchFamily="18" charset="0"/>
                        </a:rPr>
                        <a:t>tak</a:t>
                      </a:r>
                      <a:r>
                        <a:rPr lang="en-US" sz="1400" dirty="0" smtClean="0">
                          <a:latin typeface="Times New Roman" pitchFamily="18" charset="0"/>
                          <a:cs typeface="Times New Roman" pitchFamily="18" charset="0"/>
                        </a:rPr>
                        <a:t> ,Matias Nicolas </a:t>
                      </a:r>
                      <a:r>
                        <a:rPr lang="en-US" sz="1400" dirty="0" err="1" smtClean="0">
                          <a:latin typeface="Times New Roman" pitchFamily="18" charset="0"/>
                          <a:cs typeface="Times New Roman" pitchFamily="18" charset="0"/>
                        </a:rPr>
                        <a:t>Selzer</a:t>
                      </a:r>
                      <a:r>
                        <a:rPr lang="en-US" sz="1400" dirty="0" smtClean="0">
                          <a:latin typeface="Times New Roman" pitchFamily="18" charset="0"/>
                          <a:cs typeface="Times New Roman" pitchFamily="18" charset="0"/>
                        </a:rPr>
                        <a:t>  , Jan By </a:t>
                      </a:r>
                      <a:r>
                        <a:rPr lang="en-US" sz="1400" dirty="0" err="1" smtClean="0">
                          <a:latin typeface="Times New Roman" pitchFamily="18" charset="0"/>
                          <a:cs typeface="Times New Roman" pitchFamily="18" charset="0"/>
                        </a:rPr>
                        <a:t>ska</a:t>
                      </a:r>
                      <a:r>
                        <a:rPr lang="en-US" sz="1400" dirty="0" smtClean="0">
                          <a:latin typeface="Times New Roman" pitchFamily="18" charset="0"/>
                          <a:cs typeface="Times New Roman" pitchFamily="18" charset="0"/>
                        </a:rPr>
                        <a:t> , </a:t>
                      </a:r>
                      <a:r>
                        <a:rPr lang="en-US" sz="1400" dirty="0" err="1" smtClean="0">
                          <a:latin typeface="Times New Roman" pitchFamily="18" charset="0"/>
                          <a:cs typeface="Times New Roman" pitchFamily="18" charset="0"/>
                        </a:rPr>
                        <a:t>Marı´a</a:t>
                      </a:r>
                      <a:r>
                        <a:rPr lang="en-US" sz="1400" dirty="0" smtClean="0">
                          <a:latin typeface="Times New Roman" pitchFamily="18" charset="0"/>
                          <a:cs typeface="Times New Roman" pitchFamily="18" charset="0"/>
                        </a:rPr>
                        <a:t> Lujan </a:t>
                      </a:r>
                      <a:r>
                        <a:rPr lang="en-US" sz="1400" dirty="0" err="1" smtClean="0">
                          <a:latin typeface="Times New Roman" pitchFamily="18" charset="0"/>
                          <a:cs typeface="Times New Roman" pitchFamily="18" charset="0"/>
                        </a:rPr>
                        <a:t>Ganuza</a:t>
                      </a:r>
                      <a:r>
                        <a:rPr lang="en-US" sz="1400" dirty="0" smtClean="0">
                          <a:latin typeface="Times New Roman" pitchFamily="18" charset="0"/>
                          <a:cs typeface="Times New Roman" pitchFamily="18" charset="0"/>
                        </a:rPr>
                        <a:t>  , Ivan Bari sic , </a:t>
                      </a:r>
                      <a:r>
                        <a:rPr lang="en-US" sz="1400" dirty="0" err="1" smtClean="0">
                          <a:latin typeface="Times New Roman" pitchFamily="18" charset="0"/>
                          <a:cs typeface="Times New Roman" pitchFamily="18" charset="0"/>
                        </a:rPr>
                        <a:t>BarboraKozlıkova</a:t>
                      </a:r>
                      <a:r>
                        <a:rPr lang="en-US" sz="1400" dirty="0" smtClean="0">
                          <a:latin typeface="Times New Roman" pitchFamily="18" charset="0"/>
                          <a:cs typeface="Times New Roman" pitchFamily="18" charset="0"/>
                        </a:rPr>
                        <a:t> , and </a:t>
                      </a:r>
                      <a:r>
                        <a:rPr lang="en-US" sz="1400" dirty="0" err="1" smtClean="0">
                          <a:latin typeface="Times New Roman" pitchFamily="18" charset="0"/>
                          <a:cs typeface="Times New Roman" pitchFamily="18" charset="0"/>
                        </a:rPr>
                        <a:t>Haichao</a:t>
                      </a:r>
                      <a:r>
                        <a:rPr lang="en-US" sz="1400" dirty="0" smtClean="0">
                          <a:latin typeface="Times New Roman" pitchFamily="18" charset="0"/>
                          <a:cs typeface="Times New Roman" pitchFamily="18" charset="0"/>
                        </a:rPr>
                        <a:t> Miao)</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just"/>
                      <a:r>
                        <a:rPr lang="en-US" sz="1400" i="1" dirty="0" err="1" smtClean="0"/>
                        <a:t>Vivern</a:t>
                      </a:r>
                      <a:r>
                        <a:rPr lang="en-US" sz="1400" dirty="0" smtClean="0"/>
                        <a:t> involves creating a VR application that provides abstract visual representations and tools for examining DNA nanostructures, such as the Magic Scale Lens and DNA </a:t>
                      </a:r>
                      <a:r>
                        <a:rPr lang="en-US" sz="1400" dirty="0" err="1" smtClean="0"/>
                        <a:t>Untwister</a:t>
                      </a:r>
                      <a:r>
                        <a:rPr lang="en-US" sz="1400" dirty="0" smtClean="0"/>
                        <a:t>, to support detailed analysis. The platform allows experts to design and manipulate DNA structures within a shared VR environment, enhancing spatial exploration and collaboration.</a:t>
                      </a:r>
                      <a:endParaRPr lang="en-US" sz="1400" dirty="0"/>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just"/>
                      <a:r>
                        <a:rPr lang="en-US" sz="1400" i="1" dirty="0" err="1" smtClean="0"/>
                        <a:t>Vivern</a:t>
                      </a:r>
                      <a:r>
                        <a:rPr lang="en-US" sz="1400" dirty="0" smtClean="0"/>
                        <a:t> enables more intuitive, spatial analysis of complex DNA nanostructures, overcoming the limitations of desktop tools. It supports detailed design and collaboration in a virtual environment, enhancing research and development.</a:t>
                      </a:r>
                      <a:endParaRPr lang="en-US" sz="1400" dirty="0"/>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just"/>
                      <a:r>
                        <a:rPr lang="en-US" sz="1400" i="1" dirty="0" err="1" smtClean="0"/>
                        <a:t>Vivern</a:t>
                      </a:r>
                      <a:r>
                        <a:rPr lang="en-US" sz="1400" dirty="0" smtClean="0"/>
                        <a:t> may require specialized VR hardware, limiting accessibility for some users. Additionally, its reliance on VR technology could pose a learning curve for those unfamiliar with immersive environments.</a:t>
                      </a:r>
                      <a:endParaRPr lang="en-US" sz="1400" dirty="0"/>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Problem Statement</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t>9</a:t>
            </a:fld>
            <a:endParaRPr lang="en-IN" sz="1400" b="1" dirty="0">
              <a:solidFill>
                <a:schemeClr val="tx1"/>
              </a:solidFill>
            </a:endParaRPr>
          </a:p>
        </p:txBody>
      </p:sp>
      <p:sp>
        <p:nvSpPr>
          <p:cNvPr id="7" name="TextBox 6"/>
          <p:cNvSpPr txBox="1"/>
          <p:nvPr/>
        </p:nvSpPr>
        <p:spPr>
          <a:xfrm>
            <a:off x="628650" y="769100"/>
            <a:ext cx="7886700" cy="5078313"/>
          </a:xfrm>
          <a:prstGeom prst="rect">
            <a:avLst/>
          </a:prstGeom>
          <a:noFill/>
        </p:spPr>
        <p:txBody>
          <a:bodyPr wrap="square" rtlCol="0">
            <a:spAutoFit/>
          </a:bodyPr>
          <a:lstStyle/>
          <a:p>
            <a:pPr marL="285750" indent="-285750" algn="just">
              <a:lnSpc>
                <a:spcPct val="150000"/>
              </a:lnSpc>
              <a:buFont typeface="Arial" pitchFamily="34" charset="0"/>
              <a:buChar char="•"/>
            </a:pPr>
            <a:r>
              <a:rPr lang="en-IN" dirty="0">
                <a:latin typeface="Times New Roman" pitchFamily="18" charset="0"/>
                <a:cs typeface="Times New Roman" pitchFamily="18" charset="0"/>
              </a:rPr>
              <a:t>The healthcare industry faces significant challenges in providing seamless, secure, and efficient communication and service delivery between hospitals, doctors, and patients. </a:t>
            </a:r>
            <a:endParaRPr lang="en-IN" dirty="0" smtClean="0">
              <a:latin typeface="Times New Roman" pitchFamily="18" charset="0"/>
              <a:cs typeface="Times New Roman" pitchFamily="18" charset="0"/>
            </a:endParaRPr>
          </a:p>
          <a:p>
            <a:pPr algn="just">
              <a:lnSpc>
                <a:spcPct val="150000"/>
              </a:lnSpc>
            </a:pPr>
            <a:endParaRPr lang="en-IN" dirty="0" smtClean="0">
              <a:latin typeface="Times New Roman" pitchFamily="18" charset="0"/>
              <a:cs typeface="Times New Roman" pitchFamily="18" charset="0"/>
            </a:endParaRPr>
          </a:p>
          <a:p>
            <a:pPr marL="285750" indent="-285750" algn="just">
              <a:lnSpc>
                <a:spcPct val="150000"/>
              </a:lnSpc>
              <a:buFont typeface="Arial" pitchFamily="34" charset="0"/>
              <a:buChar char="•"/>
            </a:pPr>
            <a:r>
              <a:rPr lang="en-IN" dirty="0" smtClean="0">
                <a:latin typeface="Times New Roman" pitchFamily="18" charset="0"/>
                <a:cs typeface="Times New Roman" pitchFamily="18" charset="0"/>
              </a:rPr>
              <a:t>Traditional </a:t>
            </a:r>
            <a:r>
              <a:rPr lang="en-IN" dirty="0">
                <a:latin typeface="Times New Roman" pitchFamily="18" charset="0"/>
                <a:cs typeface="Times New Roman" pitchFamily="18" charset="0"/>
              </a:rPr>
              <a:t>systems often lack the necessary integration to streamline the management of healthcare services, creating barriers to access, reducing the quality of care, and compromising patient security</a:t>
            </a:r>
            <a:r>
              <a:rPr lang="en-IN" dirty="0" smtClean="0">
                <a:latin typeface="Times New Roman" pitchFamily="18" charset="0"/>
                <a:cs typeface="Times New Roman" pitchFamily="18" charset="0"/>
              </a:rPr>
              <a:t>.</a:t>
            </a:r>
          </a:p>
          <a:p>
            <a:pPr algn="just">
              <a:lnSpc>
                <a:spcPct val="150000"/>
              </a:lnSpc>
            </a:pPr>
            <a:endParaRPr lang="en-IN" dirty="0" smtClean="0">
              <a:latin typeface="Times New Roman" pitchFamily="18" charset="0"/>
              <a:cs typeface="Times New Roman" pitchFamily="18" charset="0"/>
            </a:endParaRPr>
          </a:p>
          <a:p>
            <a:pPr marL="285750" indent="-285750" algn="just">
              <a:lnSpc>
                <a:spcPct val="150000"/>
              </a:lnSpc>
              <a:buFont typeface="Arial" pitchFamily="34" charset="0"/>
              <a:buChar char="•"/>
            </a:pPr>
            <a:r>
              <a:rPr lang="en-IN" dirty="0" smtClean="0">
                <a:latin typeface="Times New Roman" pitchFamily="18" charset="0"/>
                <a:cs typeface="Times New Roman" pitchFamily="18" charset="0"/>
              </a:rPr>
              <a:t>Furthermore</a:t>
            </a:r>
            <a:r>
              <a:rPr lang="en-IN" dirty="0">
                <a:latin typeface="Times New Roman" pitchFamily="18" charset="0"/>
                <a:cs typeface="Times New Roman" pitchFamily="18" charset="0"/>
              </a:rPr>
              <a:t>, advancements in medical technologies, such as DNA sequencing, have not been fully leveraged in many healthcare platforms. There is also a critical need for secure communication channels that protect sensitive patient data while enabling consultations. </a:t>
            </a:r>
            <a:endParaRPr lang="en-IN" dirty="0" smtClean="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smtClean="0">
                <a:solidFill>
                  <a:srgbClr val="7030A0"/>
                </a:solidFill>
                <a:latin typeface="Times New Roman" panose="02020603050405020304" pitchFamily="18" charset="0"/>
                <a:cs typeface="Times New Roman" panose="02020603050405020304" pitchFamily="18" charset="0"/>
              </a:rPr>
              <a:t>Existing </a:t>
            </a:r>
            <a:r>
              <a:rPr lang="en-US" sz="3600" b="1" dirty="0">
                <a:solidFill>
                  <a:srgbClr val="7030A0"/>
                </a:solidFill>
                <a:latin typeface="Times New Roman" panose="02020603050405020304" pitchFamily="18" charset="0"/>
                <a:cs typeface="Times New Roman" panose="02020603050405020304" pitchFamily="18" charset="0"/>
              </a:rPr>
              <a:t>System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t>10</a:t>
            </a:fld>
            <a:endParaRPr lang="en-IN" sz="1400" b="1" dirty="0">
              <a:solidFill>
                <a:schemeClr val="tx1"/>
              </a:solidFill>
            </a:endParaRPr>
          </a:p>
        </p:txBody>
      </p:sp>
      <p:sp>
        <p:nvSpPr>
          <p:cNvPr id="6" name="TextBox 5"/>
          <p:cNvSpPr txBox="1"/>
          <p:nvPr/>
        </p:nvSpPr>
        <p:spPr>
          <a:xfrm>
            <a:off x="628650" y="763306"/>
            <a:ext cx="8237558" cy="5078313"/>
          </a:xfrm>
          <a:prstGeom prst="rect">
            <a:avLst/>
          </a:prstGeom>
          <a:noFill/>
        </p:spPr>
        <p:txBody>
          <a:bodyPr wrap="square" rtlCol="0">
            <a:spAutoFit/>
          </a:bodyPr>
          <a:lstStyle/>
          <a:p>
            <a:pPr marL="285750" indent="-285750" algn="just">
              <a:lnSpc>
                <a:spcPct val="150000"/>
              </a:lnSpc>
              <a:buFont typeface="Arial" pitchFamily="34" charset="0"/>
              <a:buChar char="•"/>
            </a:pPr>
            <a:r>
              <a:rPr lang="en-US" dirty="0"/>
              <a:t> </a:t>
            </a:r>
            <a:r>
              <a:rPr lang="en-US" dirty="0">
                <a:latin typeface="Times New Roman" panose="02020603050405020304" pitchFamily="18" charset="0"/>
                <a:cs typeface="Times New Roman" panose="02020603050405020304" pitchFamily="18" charset="0"/>
              </a:rPr>
              <a:t>DNA sequence coding is the major problem, since the quantity and quality of the generated DNA sequence have a strong influence on the reliability and accuracy of DNA computing . </a:t>
            </a:r>
            <a:endParaRPr lang="en-US"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Arial" pitchFamily="34" charset="0"/>
              <a:buChar char="•"/>
            </a:pPr>
            <a:r>
              <a:rPr lang="en-US" dirty="0" smtClean="0">
                <a:latin typeface="Times New Roman" panose="02020603050405020304" pitchFamily="18" charset="0"/>
                <a:cs typeface="Times New Roman" panose="02020603050405020304" pitchFamily="18" charset="0"/>
              </a:rPr>
              <a:t>Generally</a:t>
            </a:r>
            <a:r>
              <a:rPr lang="en-US" dirty="0">
                <a:latin typeface="Times New Roman" panose="02020603050405020304" pitchFamily="18" charset="0"/>
                <a:cs typeface="Times New Roman" panose="02020603050405020304" pitchFamily="18" charset="0"/>
              </a:rPr>
              <a:t>, low similarity and low melting temperature are required to reduce the probability of mismatch hybridization and to increase the reaction efficiency </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Arial" pitchFamily="34" charset="0"/>
              <a:buChar char="•"/>
            </a:pPr>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instance, we consider 2 DNA strands X1 and X2, and they hybridize with each other. </a:t>
            </a: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the previous work, researchers generally considered six constraints, and they are melting temperature (Tm), GC base content (GC), Continuity (Con), Hairpin structure (Hair), Similarity (</a:t>
            </a:r>
            <a:r>
              <a:rPr lang="en-US" dirty="0" err="1">
                <a:latin typeface="Times New Roman" panose="02020603050405020304" pitchFamily="18" charset="0"/>
                <a:cs typeface="Times New Roman" panose="02020603050405020304" pitchFamily="18" charset="0"/>
              </a:rPr>
              <a:t>Sim</a:t>
            </a:r>
            <a:r>
              <a:rPr lang="en-US" dirty="0">
                <a:latin typeface="Times New Roman" panose="02020603050405020304" pitchFamily="18" charset="0"/>
                <a:cs typeface="Times New Roman" panose="02020603050405020304" pitchFamily="18" charset="0"/>
              </a:rPr>
              <a:t>) and H-measure (</a:t>
            </a:r>
            <a:r>
              <a:rPr lang="en-US" dirty="0" err="1">
                <a:latin typeface="Times New Roman" panose="02020603050405020304" pitchFamily="18" charset="0"/>
                <a:cs typeface="Times New Roman" panose="02020603050405020304" pitchFamily="18" charset="0"/>
              </a:rPr>
              <a:t>Hm</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Arial" pitchFamily="34" charset="0"/>
              <a:buChar char="•"/>
            </a:pP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achieve the objective of low mismatch, false negative and false positive hybridization should be prevented in DNA sequences generation. Moreover, in order to improve the efficiency of reaction.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Proposed System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t>11</a:t>
            </a:fld>
            <a:endParaRPr lang="en-IN" sz="1400" b="1" dirty="0">
              <a:solidFill>
                <a:schemeClr val="tx1"/>
              </a:solidFill>
            </a:endParaRPr>
          </a:p>
        </p:txBody>
      </p:sp>
      <p:sp>
        <p:nvSpPr>
          <p:cNvPr id="6" name="TextBox 5"/>
          <p:cNvSpPr txBox="1"/>
          <p:nvPr/>
        </p:nvSpPr>
        <p:spPr>
          <a:xfrm>
            <a:off x="628650" y="821182"/>
            <a:ext cx="8179684" cy="5493812"/>
          </a:xfrm>
          <a:prstGeom prst="rect">
            <a:avLst/>
          </a:prstGeom>
          <a:noFill/>
        </p:spPr>
        <p:txBody>
          <a:bodyPr wrap="square" rtlCol="0">
            <a:spAutoFit/>
          </a:bodyPr>
          <a:lstStyle/>
          <a:p>
            <a:pPr marL="285750" indent="-285750" algn="just">
              <a:lnSpc>
                <a:spcPct val="150000"/>
              </a:lnSpc>
              <a:buFont typeface="Arial" pitchFamily="34" charset="0"/>
              <a:buChar char="•"/>
            </a:pPr>
            <a:r>
              <a:rPr lang="en-US" dirty="0">
                <a:latin typeface="Times New Roman" pitchFamily="18" charset="0"/>
                <a:cs typeface="Times New Roman" pitchFamily="18" charset="0"/>
              </a:rPr>
              <a:t>The proposed system is a comprehensive web-based healthcare platform designed to provide an efficient, secure, and user-friendly environment for hospitals, doctors, and patients</a:t>
            </a:r>
            <a:r>
              <a:rPr lang="en-US" dirty="0" smtClean="0">
                <a:latin typeface="Times New Roman" pitchFamily="18" charset="0"/>
                <a:cs typeface="Times New Roman" pitchFamily="18" charset="0"/>
              </a:rPr>
              <a:t>.</a:t>
            </a:r>
          </a:p>
          <a:p>
            <a:pPr algn="just">
              <a:lnSpc>
                <a:spcPct val="150000"/>
              </a:lnSpc>
            </a:pP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The system facilitates the registration of hospitals and doctors, enabling hospitals to manage their doctor profiles, set service costs, and offer detailed healthcare services to patients</a:t>
            </a:r>
            <a:r>
              <a:rPr lang="en-US" dirty="0" smtClean="0">
                <a:latin typeface="Times New Roman" pitchFamily="18" charset="0"/>
                <a:cs typeface="Times New Roman" pitchFamily="18" charset="0"/>
              </a:rPr>
              <a:t>.</a:t>
            </a:r>
          </a:p>
          <a:p>
            <a:pPr algn="just">
              <a:lnSpc>
                <a:spcPct val="150000"/>
              </a:lnSpc>
            </a:pP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For patients, the system provides a seamless experience where they can browse available hospitals, select doctors, and make secure payments for medical services</a:t>
            </a:r>
            <a:r>
              <a:rPr lang="en-US" dirty="0" smtClean="0">
                <a:latin typeface="Times New Roman" pitchFamily="18" charset="0"/>
                <a:cs typeface="Times New Roman" pitchFamily="18" charset="0"/>
              </a:rPr>
              <a:t>.</a:t>
            </a:r>
          </a:p>
          <a:p>
            <a:pPr marL="285750" indent="-285750" algn="just">
              <a:lnSpc>
                <a:spcPct val="150000"/>
              </a:lnSpc>
              <a:buFont typeface="Arial" pitchFamily="34" charset="0"/>
              <a:buChar char="•"/>
            </a:pP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Once a service is booked, patients receive a personal </a:t>
            </a:r>
            <a:r>
              <a:rPr lang="en-US" b="1" dirty="0">
                <a:latin typeface="Times New Roman" pitchFamily="18" charset="0"/>
                <a:cs typeface="Times New Roman" pitchFamily="18" charset="0"/>
              </a:rPr>
              <a:t>Token</a:t>
            </a:r>
            <a:r>
              <a:rPr lang="en-US" dirty="0">
                <a:latin typeface="Times New Roman" pitchFamily="18" charset="0"/>
                <a:cs typeface="Times New Roman" pitchFamily="18" charset="0"/>
              </a:rPr>
              <a:t> for secure communication with their doctor, ensuring privacy and confidentiality</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224654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Proposed System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t>12</a:t>
            </a:fld>
            <a:endParaRPr lang="en-IN" sz="1400" b="1" dirty="0">
              <a:solidFill>
                <a:schemeClr val="tx1"/>
              </a:solidFill>
            </a:endParaRPr>
          </a:p>
        </p:txBody>
      </p:sp>
      <p:sp>
        <p:nvSpPr>
          <p:cNvPr id="6" name="TextBox 5"/>
          <p:cNvSpPr txBox="1"/>
          <p:nvPr/>
        </p:nvSpPr>
        <p:spPr>
          <a:xfrm>
            <a:off x="628650" y="983226"/>
            <a:ext cx="8179684" cy="3831818"/>
          </a:xfrm>
          <a:prstGeom prst="rect">
            <a:avLst/>
          </a:prstGeom>
          <a:noFill/>
        </p:spPr>
        <p:txBody>
          <a:bodyPr wrap="square" rtlCol="0">
            <a:spAutoFit/>
          </a:bodyPr>
          <a:lstStyle/>
          <a:p>
            <a:pPr marL="285750" indent="-285750" algn="just">
              <a:lnSpc>
                <a:spcPct val="150000"/>
              </a:lnSpc>
              <a:buFont typeface="Arial" pitchFamily="34" charset="0"/>
              <a:buChar char="•"/>
            </a:pPr>
            <a:r>
              <a:rPr lang="en-US" dirty="0">
                <a:latin typeface="Times New Roman" pitchFamily="18" charset="0"/>
                <a:cs typeface="Times New Roman" pitchFamily="18" charset="0"/>
              </a:rPr>
              <a:t>The system allows patients to share their DNA sequences with doctors, who will analyze the data using the </a:t>
            </a:r>
            <a:r>
              <a:rPr lang="en-US" b="1" dirty="0">
                <a:latin typeface="Times New Roman" pitchFamily="18" charset="0"/>
                <a:cs typeface="Times New Roman" pitchFamily="18" charset="0"/>
              </a:rPr>
              <a:t>Smith-Waterman algorithm</a:t>
            </a:r>
            <a:r>
              <a:rPr lang="en-US" dirty="0">
                <a:latin typeface="Times New Roman" pitchFamily="18" charset="0"/>
                <a:cs typeface="Times New Roman" pitchFamily="18" charset="0"/>
              </a:rPr>
              <a:t> to provide diagnostic results</a:t>
            </a:r>
            <a:r>
              <a:rPr lang="en-US" dirty="0" smtClean="0">
                <a:latin typeface="Times New Roman" pitchFamily="18" charset="0"/>
                <a:cs typeface="Times New Roman" pitchFamily="18" charset="0"/>
              </a:rPr>
              <a:t>.</a:t>
            </a:r>
          </a:p>
          <a:p>
            <a:pPr marL="285750" indent="-285750" algn="just">
              <a:lnSpc>
                <a:spcPct val="150000"/>
              </a:lnSpc>
              <a:buFont typeface="Arial" pitchFamily="34" charset="0"/>
              <a:buChar char="•"/>
            </a:pP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Doctors have access to a chat interface where they can interact with patients, discuss diagnoses, and provide personalized medical advice</a:t>
            </a:r>
            <a:r>
              <a:rPr lang="en-US" dirty="0" smtClean="0">
                <a:latin typeface="Times New Roman" pitchFamily="18" charset="0"/>
                <a:cs typeface="Times New Roman" pitchFamily="18" charset="0"/>
              </a:rPr>
              <a:t>.</a:t>
            </a:r>
          </a:p>
          <a:p>
            <a:pPr marL="285750" indent="-285750" algn="just">
              <a:lnSpc>
                <a:spcPct val="150000"/>
              </a:lnSpc>
              <a:buFont typeface="Arial" pitchFamily="34" charset="0"/>
              <a:buChar char="•"/>
            </a:pP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The platform also includes administrative controls to ensure smooth operation, monitor hospital and doctor registrations, and enforce security standards.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70107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Software </a:t>
            </a:r>
            <a:r>
              <a:rPr lang="en-US" sz="3600" b="1" dirty="0" smtClean="0">
                <a:solidFill>
                  <a:srgbClr val="7030A0"/>
                </a:solidFill>
                <a:latin typeface="Times New Roman" panose="02020603050405020304" pitchFamily="18" charset="0"/>
                <a:cs typeface="Times New Roman" panose="02020603050405020304" pitchFamily="18" charset="0"/>
              </a:rPr>
              <a:t>Configuration</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t>13</a:t>
            </a:fld>
            <a:endParaRPr lang="en-IN" sz="1400" b="1" dirty="0">
              <a:solidFill>
                <a:schemeClr val="tx1"/>
              </a:solidFill>
            </a:endParaRPr>
          </a:p>
        </p:txBody>
      </p:sp>
      <p:sp>
        <p:nvSpPr>
          <p:cNvPr id="6" name="TextBox 5"/>
          <p:cNvSpPr txBox="1"/>
          <p:nvPr/>
        </p:nvSpPr>
        <p:spPr>
          <a:xfrm>
            <a:off x="628650" y="943897"/>
            <a:ext cx="7886700" cy="4197559"/>
          </a:xfrm>
          <a:prstGeom prst="rect">
            <a:avLst/>
          </a:prstGeom>
          <a:noFill/>
        </p:spPr>
        <p:txBody>
          <a:bodyPr wrap="square" rtlCol="0">
            <a:spAutoFit/>
          </a:bodyPr>
          <a:lstStyle/>
          <a:p>
            <a:pPr algn="just">
              <a:lnSpc>
                <a:spcPct val="150000"/>
              </a:lnSpc>
            </a:pPr>
            <a:r>
              <a:rPr lang="en-IN" b="1" u="sng" dirty="0">
                <a:latin typeface="Times New Roman" pitchFamily="18" charset="0"/>
                <a:cs typeface="Times New Roman" pitchFamily="18" charset="0"/>
              </a:rPr>
              <a:t>H/W SYSTEM CONFIGURATION:</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Processor: i3, i5, i7</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RAM: 4 GB</a:t>
            </a:r>
          </a:p>
          <a:p>
            <a:pPr marL="285750" indent="-285750" algn="just">
              <a:lnSpc>
                <a:spcPct val="150000"/>
              </a:lnSpc>
              <a:buFont typeface="Arial" pitchFamily="34" charset="0"/>
              <a:buChar char="•"/>
            </a:pPr>
            <a:r>
              <a:rPr lang="en-IN" dirty="0">
                <a:latin typeface="Times New Roman" pitchFamily="18" charset="0"/>
                <a:cs typeface="Times New Roman" pitchFamily="18" charset="0"/>
              </a:rPr>
              <a:t>Hard Disk: 260 GB</a:t>
            </a:r>
          </a:p>
          <a:p>
            <a:pPr algn="just">
              <a:lnSpc>
                <a:spcPct val="150000"/>
              </a:lnSpc>
            </a:pPr>
            <a:r>
              <a:rPr lang="en-IN" b="1" u="sng" dirty="0">
                <a:latin typeface="Times New Roman" pitchFamily="18" charset="0"/>
                <a:cs typeface="Times New Roman" pitchFamily="18" charset="0"/>
              </a:rPr>
              <a:t>S/W SYSTEM CONFIGURATION</a:t>
            </a:r>
            <a:r>
              <a:rPr lang="en-IN" u="sng" dirty="0">
                <a:latin typeface="Times New Roman" pitchFamily="18" charset="0"/>
                <a:cs typeface="Times New Roman" pitchFamily="18" charset="0"/>
              </a:rPr>
              <a:t>:</a:t>
            </a:r>
          </a:p>
          <a:p>
            <a:pPr marL="285750" indent="-285750" algn="just">
              <a:lnSpc>
                <a:spcPct val="150000"/>
              </a:lnSpc>
              <a:buFont typeface="Arial" pitchFamily="34" charset="0"/>
              <a:buChar char="•"/>
            </a:pPr>
            <a:r>
              <a:rPr lang="en-IN" b="1" dirty="0">
                <a:latin typeface="Times New Roman" pitchFamily="18" charset="0"/>
                <a:cs typeface="Times New Roman" pitchFamily="18" charset="0"/>
              </a:rPr>
              <a:t>Operating System</a:t>
            </a:r>
            <a:r>
              <a:rPr lang="en-IN" dirty="0">
                <a:latin typeface="Times New Roman" pitchFamily="18" charset="0"/>
                <a:cs typeface="Times New Roman" pitchFamily="18" charset="0"/>
              </a:rPr>
              <a:t>: Windows 7/8/10</a:t>
            </a:r>
          </a:p>
          <a:p>
            <a:pPr marL="285750" indent="-285750" algn="just">
              <a:lnSpc>
                <a:spcPct val="150000"/>
              </a:lnSpc>
              <a:buFont typeface="Arial" pitchFamily="34" charset="0"/>
              <a:buChar char="•"/>
            </a:pPr>
            <a:r>
              <a:rPr lang="en-IN" b="1" dirty="0">
                <a:latin typeface="Times New Roman" pitchFamily="18" charset="0"/>
                <a:cs typeface="Times New Roman" pitchFamily="18" charset="0"/>
              </a:rPr>
              <a:t>Front End</a:t>
            </a:r>
            <a:r>
              <a:rPr lang="en-IN" dirty="0">
                <a:latin typeface="Times New Roman" pitchFamily="18" charset="0"/>
                <a:cs typeface="Times New Roman" pitchFamily="18" charset="0"/>
              </a:rPr>
              <a:t>: HTML &amp; JSP</a:t>
            </a:r>
          </a:p>
          <a:p>
            <a:pPr marL="285750" indent="-285750" algn="just">
              <a:lnSpc>
                <a:spcPct val="150000"/>
              </a:lnSpc>
              <a:buFont typeface="Arial" pitchFamily="34" charset="0"/>
              <a:buChar char="•"/>
            </a:pPr>
            <a:r>
              <a:rPr lang="en-IN" b="1" dirty="0">
                <a:latin typeface="Times New Roman" pitchFamily="18" charset="0"/>
                <a:cs typeface="Times New Roman" pitchFamily="18" charset="0"/>
              </a:rPr>
              <a:t>Back End</a:t>
            </a:r>
            <a:r>
              <a:rPr lang="en-IN" dirty="0">
                <a:latin typeface="Times New Roman" pitchFamily="18" charset="0"/>
                <a:cs typeface="Times New Roman" pitchFamily="18" charset="0"/>
              </a:rPr>
              <a:t>: JAVA</a:t>
            </a:r>
          </a:p>
          <a:p>
            <a:pPr marL="285750" indent="-285750" algn="just">
              <a:lnSpc>
                <a:spcPct val="150000"/>
              </a:lnSpc>
              <a:buFont typeface="Arial" pitchFamily="34" charset="0"/>
              <a:buChar char="•"/>
            </a:pPr>
            <a:r>
              <a:rPr lang="en-IN" b="1" dirty="0">
                <a:latin typeface="Times New Roman" pitchFamily="18" charset="0"/>
                <a:cs typeface="Times New Roman" pitchFamily="18" charset="0"/>
              </a:rPr>
              <a:t>Database</a:t>
            </a:r>
            <a:r>
              <a:rPr lang="en-IN" dirty="0">
                <a:latin typeface="Times New Roman" pitchFamily="18" charset="0"/>
                <a:cs typeface="Times New Roman" pitchFamily="18" charset="0"/>
              </a:rPr>
              <a:t>: MySQL</a:t>
            </a:r>
          </a:p>
          <a:p>
            <a:pPr marL="285750" indent="-285750" algn="just">
              <a:lnSpc>
                <a:spcPct val="150000"/>
              </a:lnSpc>
              <a:buFont typeface="Arial" pitchFamily="34" charset="0"/>
              <a:buChar char="•"/>
            </a:pPr>
            <a:r>
              <a:rPr lang="en-IN" b="1" dirty="0">
                <a:latin typeface="Times New Roman" pitchFamily="18" charset="0"/>
                <a:cs typeface="Times New Roman" pitchFamily="18" charset="0"/>
              </a:rPr>
              <a:t>Tool</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NetBeans</a:t>
            </a:r>
            <a:endParaRPr lang="en-IN"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Architecture </a:t>
            </a:r>
            <a:r>
              <a:rPr lang="en-US" sz="3600" b="1" dirty="0" smtClean="0">
                <a:solidFill>
                  <a:srgbClr val="7030A0"/>
                </a:solidFill>
                <a:latin typeface="Times New Roman" panose="02020603050405020304" pitchFamily="18" charset="0"/>
                <a:cs typeface="Times New Roman" panose="02020603050405020304" pitchFamily="18" charset="0"/>
              </a:rPr>
              <a:t>Diagram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t>14</a:t>
            </a:fld>
            <a:endParaRPr lang="en-IN" b="1" dirty="0">
              <a:solidFill>
                <a:schemeClr val="tx1"/>
              </a:solidFill>
            </a:endParaRPr>
          </a:p>
        </p:txBody>
      </p:sp>
      <p:pic>
        <p:nvPicPr>
          <p:cNvPr id="9" name="Picture 2" descr="E:\Monisha\DIAGRAM\DNA\ARCHITE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83732"/>
            <a:ext cx="9144000" cy="50815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System Design- Use Case</a:t>
            </a: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Diagram</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3FF152-60F5-4862-82F9-1190556AA56F}" type="slidenum">
              <a:rPr lang="en-IN" sz="1400" b="1" smtClean="0">
                <a:solidFill>
                  <a:schemeClr val="tx1"/>
                </a:solidFill>
              </a:rPr>
              <a:t>15</a:t>
            </a:fld>
            <a:endParaRPr lang="en-IN" b="1" dirty="0">
              <a:solidFill>
                <a:schemeClr val="tx1"/>
              </a:solidFill>
            </a:endParaRPr>
          </a:p>
        </p:txBody>
      </p:sp>
      <p:pic>
        <p:nvPicPr>
          <p:cNvPr id="9" name="Picture 8" descr="E:\Monisha\DIAGRAM\DNA\USE_DNA.png"/>
          <p:cNvPicPr>
            <a:picLocks noGrp="1"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06222" y="745067"/>
            <a:ext cx="5667022" cy="54299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99858"/>
            <a:ext cx="7886700" cy="530258"/>
          </a:xfrm>
        </p:spPr>
        <p:txBody>
          <a:bodyPr>
            <a:noAutofit/>
          </a:bodyPr>
          <a:lstStyle/>
          <a:p>
            <a:pPr algn="ctr"/>
            <a:r>
              <a:rPr lang="en-US" sz="3600" b="1" dirty="0" smtClean="0">
                <a:solidFill>
                  <a:srgbClr val="7030A0"/>
                </a:solidFill>
                <a:latin typeface="Times New Roman" panose="02020603050405020304" pitchFamily="18" charset="0"/>
                <a:ea typeface="Calibri" panose="020F0502020204030204" pitchFamily="34" charset="0"/>
                <a:cs typeface="Times New Roman" panose="02020603050405020304" pitchFamily="18" charset="0"/>
              </a:rPr>
              <a:t>Activity</a:t>
            </a:r>
            <a:r>
              <a:rPr lang="en-US" sz="3600" b="1" dirty="0" smtClean="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Diagram</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3FF152-60F5-4862-82F9-1190556AA56F}" type="slidenum">
              <a:rPr lang="en-IN" smtClean="0"/>
              <a:t>16</a:t>
            </a:fld>
            <a:endParaRPr lang="en-IN" dirty="0"/>
          </a:p>
        </p:txBody>
      </p:sp>
      <p:pic>
        <p:nvPicPr>
          <p:cNvPr id="10" name="Picture 9" descr="E:\Monisha\DIAGRAM\DNA\ACTIVITY-DNA.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1775" y="730115"/>
            <a:ext cx="3600450" cy="5637029"/>
          </a:xfrm>
          <a:prstGeom prst="rect">
            <a:avLst/>
          </a:prstGeom>
          <a:noFill/>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8569"/>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Data Flow Diagram - </a:t>
            </a:r>
            <a:r>
              <a:rPr lang="en-US" sz="3600" b="1" dirty="0" smtClean="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OVERALL</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3FF152-60F5-4862-82F9-1190556AA56F}" type="slidenum">
              <a:rPr lang="en-IN" smtClean="0"/>
              <a:t>17</a:t>
            </a:fld>
            <a:endParaRPr lang="en-IN"/>
          </a:p>
        </p:txBody>
      </p:sp>
      <p:pic>
        <p:nvPicPr>
          <p:cNvPr id="9" name="Picture 8" descr="E:\Monisha\DIAGRAM\DNA\DFD.png"/>
          <p:cNvPicPr>
            <a:picLocks noGrp="1"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956" y="1083733"/>
            <a:ext cx="8533061" cy="5012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4327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Sequence Diagram </a:t>
            </a:r>
            <a:endParaRPr lang="en-IN" sz="6000" b="1" dirty="0">
              <a:solidFill>
                <a:srgbClr val="7030A0"/>
              </a:solidFill>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9D3FF152-60F5-4862-82F9-1190556AA56F}" type="slidenum">
              <a:rPr lang="en-IN" smtClean="0"/>
              <a:t>18</a:t>
            </a:fld>
            <a:endParaRPr lang="en-IN"/>
          </a:p>
        </p:txBody>
      </p:sp>
      <p:pic>
        <p:nvPicPr>
          <p:cNvPr id="10" name="Picture 9" descr="E:\Monisha\DIAGRAM\DNA\SEQUENCE_DNA.png"/>
          <p:cNvPicPr>
            <a:picLocks noGrp="1"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189" y="1274763"/>
            <a:ext cx="9045622" cy="47196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19</a:t>
            </a:fld>
            <a:endParaRPr lang="en-IN"/>
          </a:p>
        </p:txBody>
      </p:sp>
      <p:sp>
        <p:nvSpPr>
          <p:cNvPr id="7" name="TextBox 6"/>
          <p:cNvSpPr txBox="1"/>
          <p:nvPr/>
        </p:nvSpPr>
        <p:spPr>
          <a:xfrm>
            <a:off x="628650" y="962888"/>
            <a:ext cx="7886700" cy="5078313"/>
          </a:xfrm>
          <a:prstGeom prst="rect">
            <a:avLst/>
          </a:prstGeom>
          <a:noFill/>
        </p:spPr>
        <p:txBody>
          <a:bodyPr wrap="square" rtlCol="0">
            <a:spAutoFit/>
          </a:bodyPr>
          <a:lstStyle/>
          <a:p>
            <a:pPr algn="just">
              <a:lnSpc>
                <a:spcPct val="150000"/>
              </a:lnSpc>
            </a:pPr>
            <a:r>
              <a:rPr lang="en-IN" b="1" spc="-1" dirty="0">
                <a:solidFill>
                  <a:srgbClr val="000000"/>
                </a:solidFill>
                <a:latin typeface="Times New Roman"/>
              </a:rPr>
              <a:t>1. </a:t>
            </a:r>
            <a:r>
              <a:rPr lang="en-IN" b="1" dirty="0">
                <a:latin typeface="Times New Roman" pitchFamily="18" charset="0"/>
                <a:cs typeface="Times New Roman" pitchFamily="18" charset="0"/>
              </a:rPr>
              <a:t>ADMIN UPLOAD </a:t>
            </a:r>
            <a:r>
              <a:rPr lang="en-IN" b="1" dirty="0" smtClean="0">
                <a:latin typeface="Times New Roman" pitchFamily="18" charset="0"/>
                <a:cs typeface="Times New Roman" pitchFamily="18" charset="0"/>
              </a:rPr>
              <a:t>:</a:t>
            </a:r>
            <a:endParaRPr lang="en-US" dirty="0"/>
          </a:p>
          <a:p>
            <a:pPr marL="285750" indent="-285750" algn="just">
              <a:lnSpc>
                <a:spcPct val="150000"/>
              </a:lnSpc>
              <a:buFont typeface="Arial" pitchFamily="34" charset="0"/>
              <a:buChar char="•"/>
            </a:pPr>
            <a:r>
              <a:rPr lang="en-US" dirty="0">
                <a:latin typeface="Times New Roman" pitchFamily="18" charset="0"/>
                <a:cs typeface="Times New Roman" pitchFamily="18" charset="0"/>
              </a:rPr>
              <a:t>In this module, a user must be authorized in the application to access its features.</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On the provider side, hospitals and doctors must be added for further counseling of patients or users.</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Doctor profiles are managed securely, ensuring that only doctors can access their counseling information using a password known only to them</a:t>
            </a:r>
            <a:r>
              <a:rPr lang="en-US" dirty="0" smtClean="0">
                <a:latin typeface="Times New Roman" pitchFamily="18" charset="0"/>
                <a:cs typeface="Times New Roman" pitchFamily="18" charset="0"/>
              </a:rPr>
              <a:t>.</a:t>
            </a:r>
          </a:p>
          <a:p>
            <a:pPr marL="285750" indent="-285750" algn="just">
              <a:lnSpc>
                <a:spcPct val="150000"/>
              </a:lnSpc>
              <a:buFont typeface="Arial" pitchFamily="34" charset="0"/>
              <a:buChar char="•"/>
            </a:pPr>
            <a:endParaRPr lang="en-US" dirty="0">
              <a:latin typeface="Times New Roman" pitchFamily="18" charset="0"/>
              <a:cs typeface="Times New Roman" pitchFamily="18" charset="0"/>
            </a:endParaRPr>
          </a:p>
          <a:p>
            <a:pPr algn="just">
              <a:lnSpc>
                <a:spcPct val="150000"/>
              </a:lnSpc>
            </a:pPr>
            <a:r>
              <a:rPr lang="en-IN" b="1" spc="-1" dirty="0">
                <a:solidFill>
                  <a:srgbClr val="000000"/>
                </a:solidFill>
                <a:latin typeface="Times New Roman" pitchFamily="18" charset="0"/>
                <a:cs typeface="Times New Roman" pitchFamily="18" charset="0"/>
              </a:rPr>
              <a:t>2. </a:t>
            </a:r>
            <a:r>
              <a:rPr lang="en-IN" b="1" dirty="0">
                <a:latin typeface="Times New Roman" pitchFamily="18" charset="0"/>
                <a:cs typeface="Times New Roman" pitchFamily="18" charset="0"/>
              </a:rPr>
              <a:t>REPORTS UPLOAD </a:t>
            </a:r>
            <a:r>
              <a:rPr lang="en-IN" b="1"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In this module, when a user books a provider along with hospital facilities and a specialist doctor in the application, the booking process is completed.</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Once the user returns for further consultation, they can proceed with counseling sessions with the specific doctor they selected</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20</a:t>
            </a:fld>
            <a:endParaRPr lang="en-IN"/>
          </a:p>
        </p:txBody>
      </p:sp>
      <p:sp>
        <p:nvSpPr>
          <p:cNvPr id="7" name="TextBox 6"/>
          <p:cNvSpPr txBox="1"/>
          <p:nvPr/>
        </p:nvSpPr>
        <p:spPr>
          <a:xfrm>
            <a:off x="628651" y="538126"/>
            <a:ext cx="8179683" cy="5909310"/>
          </a:xfrm>
          <a:prstGeom prst="rect">
            <a:avLst/>
          </a:prstGeom>
          <a:noFill/>
        </p:spPr>
        <p:txBody>
          <a:bodyPr wrap="square" rtlCol="0">
            <a:spAutoFit/>
          </a:bodyPr>
          <a:lstStyle/>
          <a:p>
            <a:pPr algn="just">
              <a:lnSpc>
                <a:spcPct val="150000"/>
              </a:lnSpc>
            </a:pPr>
            <a:r>
              <a:rPr lang="en-IN" b="1" spc="-1" dirty="0" smtClean="0">
                <a:solidFill>
                  <a:srgbClr val="000000"/>
                </a:solidFill>
                <a:latin typeface="Times New Roman" pitchFamily="18" charset="0"/>
                <a:cs typeface="Times New Roman" pitchFamily="18" charset="0"/>
              </a:rPr>
              <a:t>3</a:t>
            </a:r>
            <a:r>
              <a:rPr lang="en-IN" b="1" spc="-1" dirty="0">
                <a:solidFill>
                  <a:srgbClr val="000000"/>
                </a:solidFill>
                <a:latin typeface="Times New Roman" pitchFamily="18" charset="0"/>
                <a:cs typeface="Times New Roman" pitchFamily="18" charset="0"/>
              </a:rPr>
              <a:t>. </a:t>
            </a:r>
            <a:r>
              <a:rPr lang="en-IN" b="1" dirty="0">
                <a:latin typeface="Times New Roman" panose="02020603050405020304" pitchFamily="18" charset="0"/>
                <a:cs typeface="Times New Roman" panose="02020603050405020304" pitchFamily="18" charset="0"/>
              </a:rPr>
              <a:t>AGGREGATE QUERIES </a:t>
            </a:r>
            <a:r>
              <a:rPr lang="en-IN" b="1" dirty="0" smtClean="0">
                <a:latin typeface="Times New Roman" panose="02020603050405020304" pitchFamily="18" charset="0"/>
                <a:cs typeface="Times New Roman" panose="02020603050405020304" pitchFamily="18" charset="0"/>
              </a:rPr>
              <a:t>:</a:t>
            </a:r>
            <a:endParaRPr lang="en-IN" dirty="0">
              <a:latin typeface="Times New Roman" pitchFamily="18" charset="0"/>
              <a:cs typeface="Times New Roman" pitchFamily="18" charset="0"/>
            </a:endParaRPr>
          </a:p>
          <a:p>
            <a:pPr marL="285750" indent="-285750" algn="just">
              <a:lnSpc>
                <a:spcPct val="150000"/>
              </a:lnSpc>
              <a:buFont typeface="Arial" pitchFamily="34" charset="0"/>
              <a:buChar char="•"/>
            </a:pPr>
            <a:r>
              <a:rPr lang="en-US" dirty="0">
                <a:latin typeface="Times New Roman" pitchFamily="18" charset="0"/>
                <a:cs typeface="Times New Roman" pitchFamily="18" charset="0"/>
              </a:rPr>
              <a:t>In this module, important queries often involve determining how many records contain a diagnosis of a disease and a gene variant.</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The system enables secure outsourcing of the database, allowing such queries without requiring the server to decrypt the data.</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Hospitals will store DNA data as a large sequence of characters from an alphabet representing the four nucleotide types.</a:t>
            </a:r>
          </a:p>
          <a:p>
            <a:pPr marL="285750" indent="-285750" algn="just">
              <a:lnSpc>
                <a:spcPct val="150000"/>
              </a:lnSpc>
              <a:buFont typeface="Arial" pitchFamily="34" charset="0"/>
              <a:buChar char="•"/>
            </a:pPr>
            <a:r>
              <a:rPr lang="en-US" dirty="0">
                <a:latin typeface="Times New Roman" pitchFamily="18" charset="0"/>
                <a:cs typeface="Times New Roman" pitchFamily="18" charset="0"/>
              </a:rPr>
              <a:t>This alphabet can be extended with additional characters representing augmented sequences for enhanced analysis</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algn="just">
              <a:lnSpc>
                <a:spcPct val="150000"/>
              </a:lnSpc>
            </a:pPr>
            <a:r>
              <a:rPr lang="en-IN" b="1" spc="-1" dirty="0">
                <a:solidFill>
                  <a:srgbClr val="000000"/>
                </a:solidFill>
                <a:latin typeface="Times New Roman" pitchFamily="18" charset="0"/>
                <a:cs typeface="Times New Roman" pitchFamily="18" charset="0"/>
              </a:rPr>
              <a:t>4. </a:t>
            </a:r>
            <a:r>
              <a:rPr lang="en-IN" b="1" dirty="0">
                <a:latin typeface="Times New Roman" pitchFamily="18" charset="0"/>
                <a:cs typeface="Times New Roman" pitchFamily="18" charset="0"/>
              </a:rPr>
              <a:t>SEQUENCE TESTING</a:t>
            </a:r>
            <a:r>
              <a:rPr lang="en-IN" b="1"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a:p>
            <a:pPr marL="457200" indent="-457200" algn="just">
              <a:lnSpc>
                <a:spcPct val="150000"/>
              </a:lnSpc>
              <a:buFont typeface="Arial" pitchFamily="34" charset="0"/>
              <a:buChar char="•"/>
            </a:pPr>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this module, queries on DNA need to account for various errors, such as irrelevant mutations, incomplete specifications, and sequencing errors.</a:t>
            </a:r>
          </a:p>
          <a:p>
            <a:pPr marL="457200" indent="-457200" algn="just">
              <a:lnSpc>
                <a:spcPct val="150000"/>
              </a:lnSpc>
              <a:buFont typeface="Arial" pitchFamily="34" charset="0"/>
              <a:buChar char="•"/>
            </a:pPr>
            <a:r>
              <a:rPr lang="en-US" dirty="0">
                <a:latin typeface="Times New Roman" pitchFamily="18" charset="0"/>
                <a:cs typeface="Times New Roman" pitchFamily="18" charset="0"/>
              </a:rPr>
              <a:t>Clients are authorized entities, meaning they are allowed to perform queries on the encrypted DNA sequences</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96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21</a:t>
            </a:fld>
            <a:endParaRPr lang="en-IN"/>
          </a:p>
        </p:txBody>
      </p:sp>
      <p:sp>
        <p:nvSpPr>
          <p:cNvPr id="7" name="TextBox 6"/>
          <p:cNvSpPr txBox="1"/>
          <p:nvPr/>
        </p:nvSpPr>
        <p:spPr>
          <a:xfrm>
            <a:off x="628650" y="751344"/>
            <a:ext cx="7886700" cy="5493812"/>
          </a:xfrm>
          <a:prstGeom prst="rect">
            <a:avLst/>
          </a:prstGeom>
          <a:noFill/>
        </p:spPr>
        <p:txBody>
          <a:bodyPr wrap="square" rtlCol="0">
            <a:spAutoFit/>
          </a:bodyPr>
          <a:lstStyle/>
          <a:p>
            <a:pPr algn="just">
              <a:lnSpc>
                <a:spcPct val="150000"/>
              </a:lnSpc>
            </a:pPr>
            <a:r>
              <a:rPr lang="en-US" b="1" dirty="0" smtClean="0">
                <a:latin typeface="Times New Roman" pitchFamily="18" charset="0"/>
                <a:cs typeface="Times New Roman" pitchFamily="18" charset="0"/>
              </a:rPr>
              <a:t>5</a:t>
            </a:r>
            <a:r>
              <a:rPr lang="en-US" b="1" dirty="0">
                <a:latin typeface="Times New Roman" pitchFamily="18" charset="0"/>
                <a:cs typeface="Times New Roman" pitchFamily="18" charset="0"/>
              </a:rPr>
              <a:t>. </a:t>
            </a:r>
            <a:r>
              <a:rPr lang="en-IN" b="1" dirty="0">
                <a:latin typeface="Times New Roman" panose="02020603050405020304" pitchFamily="18" charset="0"/>
                <a:cs typeface="Times New Roman" panose="02020603050405020304" pitchFamily="18" charset="0"/>
              </a:rPr>
              <a:t>SET MATCH QUERY</a:t>
            </a:r>
            <a:r>
              <a:rPr lang="en-IN" b="1" dirty="0" smtClean="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itchFamily="34" charset="0"/>
              <a:buChar char="•"/>
            </a:pPr>
            <a:r>
              <a:rPr lang="en-US" dirty="0" smtClean="0">
                <a:latin typeface="Times New Roman" pitchFamily="18" charset="0"/>
                <a:cs typeface="Times New Roman" pitchFamily="18" charset="0"/>
              </a:rPr>
              <a:t>In </a:t>
            </a:r>
            <a:r>
              <a:rPr lang="en-US" dirty="0">
                <a:latin typeface="Times New Roman" pitchFamily="18" charset="0"/>
                <a:cs typeface="Times New Roman" pitchFamily="18" charset="0"/>
              </a:rPr>
              <a:t>this module, we will authenticate that the query asked by the researcher matches the query provided by the </a:t>
            </a:r>
            <a:r>
              <a:rPr lang="en-US" dirty="0" smtClean="0">
                <a:latin typeface="Times New Roman" pitchFamily="18" charset="0"/>
                <a:cs typeface="Times New Roman" pitchFamily="18" charset="0"/>
              </a:rPr>
              <a:t>cloud.</a:t>
            </a:r>
          </a:p>
          <a:p>
            <a:pPr marL="285750" indent="-285750" algn="just">
              <a:lnSpc>
                <a:spcPct val="150000"/>
              </a:lnSpc>
              <a:buFont typeface="Arial" pitchFamily="34" charset="0"/>
              <a:buChar char="•"/>
            </a:pPr>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hospital will set the alphabetical sequence of DNA, and the same alphabetical sequence must be provided by the researchers for consistency</a:t>
            </a:r>
            <a:r>
              <a:rPr lang="en-US" dirty="0" smtClean="0">
                <a:latin typeface="Times New Roman" pitchFamily="18" charset="0"/>
                <a:cs typeface="Times New Roman" pitchFamily="18" charset="0"/>
              </a:rPr>
              <a:t>.</a:t>
            </a:r>
          </a:p>
          <a:p>
            <a:pPr marL="285750" indent="-285750" algn="just">
              <a:lnSpc>
                <a:spcPct val="150000"/>
              </a:lnSpc>
              <a:buFont typeface="Arial" pitchFamily="34" charset="0"/>
              <a:buChar char="•"/>
            </a:pPr>
            <a:endParaRPr lang="en-US" dirty="0">
              <a:latin typeface="Times New Roman" pitchFamily="18" charset="0"/>
              <a:cs typeface="Times New Roman" pitchFamily="18" charset="0"/>
            </a:endParaRPr>
          </a:p>
          <a:p>
            <a:pPr algn="just">
              <a:lnSpc>
                <a:spcPct val="150000"/>
              </a:lnSpc>
            </a:pPr>
            <a:r>
              <a:rPr lang="en-US" b="1" dirty="0">
                <a:latin typeface="Times New Roman" pitchFamily="18" charset="0"/>
                <a:cs typeface="Times New Roman" pitchFamily="18" charset="0"/>
              </a:rPr>
              <a:t>6. HIDING FROM THE DECRYPTING SERVER</a:t>
            </a:r>
            <a:r>
              <a:rPr lang="en-US" b="1"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a:p>
            <a:pPr marL="342900" indent="-342900" algn="just">
              <a:lnSpc>
                <a:spcPct val="150000"/>
              </a:lnSpc>
              <a:buFont typeface="Arial" pitchFamily="34" charset="0"/>
              <a:buChar char="•"/>
            </a:pPr>
            <a:r>
              <a:rPr lang="en-US" dirty="0">
                <a:latin typeface="Times New Roman" pitchFamily="18" charset="0"/>
                <a:cs typeface="Times New Roman" pitchFamily="18" charset="0"/>
              </a:rPr>
              <a:t>In this module, the hospital will store the encrypted file on the cloud.</a:t>
            </a:r>
          </a:p>
          <a:p>
            <a:pPr marL="342900" indent="-342900" algn="just">
              <a:lnSpc>
                <a:spcPct val="150000"/>
              </a:lnSpc>
              <a:buFont typeface="Arial" pitchFamily="34" charset="0"/>
              <a:buChar char="•"/>
            </a:pPr>
            <a:r>
              <a:rPr lang="en-US" dirty="0">
                <a:latin typeface="Times New Roman" pitchFamily="18" charset="0"/>
                <a:cs typeface="Times New Roman" pitchFamily="18" charset="0"/>
              </a:rPr>
              <a:t>The cloud will internally designate </a:t>
            </a:r>
            <a:r>
              <a:rPr lang="en-US" b="1" dirty="0">
                <a:latin typeface="Times New Roman" pitchFamily="18" charset="0"/>
                <a:cs typeface="Times New Roman" pitchFamily="18" charset="0"/>
              </a:rPr>
              <a:t>cloud1</a:t>
            </a:r>
            <a:r>
              <a:rPr lang="en-US" dirty="0">
                <a:latin typeface="Times New Roman" pitchFamily="18" charset="0"/>
                <a:cs typeface="Times New Roman" pitchFamily="18" charset="0"/>
              </a:rPr>
              <a:t> as the key holder and </a:t>
            </a:r>
            <a:r>
              <a:rPr lang="en-US" b="1" dirty="0">
                <a:latin typeface="Times New Roman" pitchFamily="18" charset="0"/>
                <a:cs typeface="Times New Roman" pitchFamily="18" charset="0"/>
              </a:rPr>
              <a:t>cloud2</a:t>
            </a:r>
            <a:r>
              <a:rPr lang="en-US" dirty="0">
                <a:latin typeface="Times New Roman" pitchFamily="18" charset="0"/>
                <a:cs typeface="Times New Roman" pitchFamily="18" charset="0"/>
              </a:rPr>
              <a:t> as the data holder.</a:t>
            </a:r>
          </a:p>
          <a:p>
            <a:pPr marL="342900" indent="-342900" algn="just">
              <a:lnSpc>
                <a:spcPct val="150000"/>
              </a:lnSpc>
              <a:buFont typeface="Arial" pitchFamily="34" charset="0"/>
              <a:buChar char="•"/>
            </a:pPr>
            <a:r>
              <a:rPr lang="en-US" dirty="0">
                <a:latin typeface="Times New Roman" pitchFamily="18" charset="0"/>
                <a:cs typeface="Times New Roman" pitchFamily="18" charset="0"/>
              </a:rPr>
              <a:t>Each time a researcher queries the file, </a:t>
            </a:r>
            <a:r>
              <a:rPr lang="en-US" b="1" dirty="0">
                <a:latin typeface="Times New Roman" pitchFamily="18" charset="0"/>
                <a:cs typeface="Times New Roman" pitchFamily="18" charset="0"/>
              </a:rPr>
              <a:t>cloud1</a:t>
            </a:r>
            <a:r>
              <a:rPr lang="en-US" dirty="0">
                <a:latin typeface="Times New Roman" pitchFamily="18" charset="0"/>
                <a:cs typeface="Times New Roman" pitchFamily="18" charset="0"/>
              </a:rPr>
              <a:t> will return the key.</a:t>
            </a:r>
          </a:p>
          <a:p>
            <a:pPr marL="342900" indent="-342900" algn="just">
              <a:lnSpc>
                <a:spcPct val="150000"/>
              </a:lnSpc>
              <a:buFont typeface="Arial" pitchFamily="34" charset="0"/>
              <a:buChar char="•"/>
            </a:pPr>
            <a:r>
              <a:rPr lang="en-US" dirty="0">
                <a:latin typeface="Times New Roman" pitchFamily="18" charset="0"/>
                <a:cs typeface="Times New Roman" pitchFamily="18" charset="0"/>
              </a:rPr>
              <a:t>If the key matches with the hospital's secret key, </a:t>
            </a:r>
            <a:r>
              <a:rPr lang="en-US" b="1" dirty="0">
                <a:latin typeface="Times New Roman" pitchFamily="18" charset="0"/>
                <a:cs typeface="Times New Roman" pitchFamily="18" charset="0"/>
              </a:rPr>
              <a:t>cloud2</a:t>
            </a:r>
            <a:r>
              <a:rPr lang="en-US" dirty="0">
                <a:latin typeface="Times New Roman" pitchFamily="18" charset="0"/>
                <a:cs typeface="Times New Roman" pitchFamily="18" charset="0"/>
              </a:rPr>
              <a:t> will return the decrypted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smtClean="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Performance </a:t>
            </a: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Evaluation / Results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22</a:t>
            </a:fld>
            <a:endParaRPr lang="en-IN"/>
          </a:p>
        </p:txBody>
      </p:sp>
      <p:sp>
        <p:nvSpPr>
          <p:cNvPr id="8" name="TextBox 7"/>
          <p:cNvSpPr txBox="1"/>
          <p:nvPr/>
        </p:nvSpPr>
        <p:spPr>
          <a:xfrm>
            <a:off x="462988" y="564523"/>
            <a:ext cx="8194876" cy="5909310"/>
          </a:xfrm>
          <a:prstGeom prst="rect">
            <a:avLst/>
          </a:prstGeom>
          <a:noFill/>
        </p:spPr>
        <p:txBody>
          <a:bodyPr wrap="square" rtlCol="0">
            <a:spAutoFit/>
          </a:bodyPr>
          <a:lstStyle/>
          <a:p>
            <a:pPr marL="342900" indent="-342900" algn="just">
              <a:lnSpc>
                <a:spcPct val="150000"/>
              </a:lnSpc>
              <a:spcAft>
                <a:spcPts val="10"/>
              </a:spcAft>
              <a:buFont typeface="Arial" pitchFamily="34" charset="0"/>
              <a:buChar char="•"/>
            </a:pPr>
            <a:r>
              <a:rPr lang="en-US" dirty="0"/>
              <a:t>The </a:t>
            </a:r>
            <a:r>
              <a:rPr lang="en-US" b="1" dirty="0"/>
              <a:t>performance analysis</a:t>
            </a:r>
            <a:r>
              <a:rPr lang="en-US" dirty="0"/>
              <a:t> of the proposed system evaluates its efficiency, security, and scalability in handling healthcare data, encrypted communication, and DNA sequence analysis. </a:t>
            </a:r>
            <a:endParaRPr lang="en-US" dirty="0" smtClean="0"/>
          </a:p>
          <a:p>
            <a:pPr marL="342900" indent="-342900" algn="just">
              <a:lnSpc>
                <a:spcPct val="150000"/>
              </a:lnSpc>
              <a:spcAft>
                <a:spcPts val="10"/>
              </a:spcAft>
              <a:buFont typeface="Arial" pitchFamily="34" charset="0"/>
              <a:buChar char="•"/>
            </a:pPr>
            <a:endParaRPr lang="en-US" dirty="0" smtClean="0"/>
          </a:p>
          <a:p>
            <a:pPr marL="342900" indent="-342900" algn="just">
              <a:lnSpc>
                <a:spcPct val="150000"/>
              </a:lnSpc>
              <a:spcAft>
                <a:spcPts val="10"/>
              </a:spcAft>
              <a:buFont typeface="Arial" pitchFamily="34" charset="0"/>
              <a:buChar char="•"/>
            </a:pPr>
            <a:r>
              <a:rPr lang="en-US" dirty="0" smtClean="0"/>
              <a:t>The </a:t>
            </a:r>
            <a:r>
              <a:rPr lang="en-US" dirty="0"/>
              <a:t>system ensures </a:t>
            </a:r>
            <a:r>
              <a:rPr lang="en-US" b="1" dirty="0"/>
              <a:t>fast and secure authentication</a:t>
            </a:r>
            <a:r>
              <a:rPr lang="en-US" dirty="0"/>
              <a:t> through optimized encryption algorithms, minimizing login and access delays. </a:t>
            </a:r>
            <a:endParaRPr lang="en-US" dirty="0" smtClean="0"/>
          </a:p>
          <a:p>
            <a:pPr marL="342900" indent="-342900" algn="just">
              <a:lnSpc>
                <a:spcPct val="150000"/>
              </a:lnSpc>
              <a:spcAft>
                <a:spcPts val="10"/>
              </a:spcAft>
              <a:buFont typeface="Arial" pitchFamily="34" charset="0"/>
              <a:buChar char="•"/>
            </a:pPr>
            <a:endParaRPr lang="en-US" dirty="0" smtClean="0"/>
          </a:p>
          <a:p>
            <a:pPr marL="342900" indent="-342900" algn="just">
              <a:lnSpc>
                <a:spcPct val="150000"/>
              </a:lnSpc>
              <a:spcAft>
                <a:spcPts val="10"/>
              </a:spcAft>
              <a:buFont typeface="Arial" pitchFamily="34" charset="0"/>
              <a:buChar char="•"/>
            </a:pPr>
            <a:r>
              <a:rPr lang="en-US" b="1" dirty="0" smtClean="0"/>
              <a:t>DNA </a:t>
            </a:r>
            <a:r>
              <a:rPr lang="en-US" b="1" dirty="0"/>
              <a:t>sequence analysis using the Smith-Waterman algorithm</a:t>
            </a:r>
            <a:r>
              <a:rPr lang="en-US" dirty="0"/>
              <a:t> is computationally intensive but is optimized for efficient processing, ensuring rapid diagnosis while maintaining accuracy. </a:t>
            </a:r>
            <a:endParaRPr lang="en-US" dirty="0" smtClean="0"/>
          </a:p>
          <a:p>
            <a:pPr marL="342900" indent="-342900" algn="just">
              <a:lnSpc>
                <a:spcPct val="150000"/>
              </a:lnSpc>
              <a:spcAft>
                <a:spcPts val="10"/>
              </a:spcAft>
              <a:buFont typeface="Arial" pitchFamily="34" charset="0"/>
              <a:buChar char="•"/>
            </a:pPr>
            <a:endParaRPr lang="en-US" dirty="0" smtClean="0"/>
          </a:p>
          <a:p>
            <a:pPr marL="342900" indent="-342900" algn="just">
              <a:lnSpc>
                <a:spcPct val="150000"/>
              </a:lnSpc>
              <a:spcAft>
                <a:spcPts val="10"/>
              </a:spcAft>
              <a:buFont typeface="Arial" pitchFamily="34" charset="0"/>
              <a:buChar char="•"/>
            </a:pPr>
            <a:r>
              <a:rPr lang="en-US" dirty="0" smtClean="0"/>
              <a:t>The</a:t>
            </a:r>
            <a:r>
              <a:rPr lang="en-US" dirty="0"/>
              <a:t> </a:t>
            </a:r>
            <a:r>
              <a:rPr lang="en-US" b="1" dirty="0"/>
              <a:t>AES encryption module</a:t>
            </a:r>
            <a:r>
              <a:rPr lang="en-US" dirty="0"/>
              <a:t> protects patient data without significantly affecting system performance, as encryption and decryption processes are lightweight and optimized for real-time operations. </a:t>
            </a:r>
            <a:endParaRPr lang="en-US"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smtClean="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Performance </a:t>
            </a: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Evaluation / Results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23</a:t>
            </a:fld>
            <a:endParaRPr lang="en-IN"/>
          </a:p>
        </p:txBody>
      </p:sp>
      <p:sp>
        <p:nvSpPr>
          <p:cNvPr id="8" name="TextBox 7"/>
          <p:cNvSpPr txBox="1"/>
          <p:nvPr/>
        </p:nvSpPr>
        <p:spPr>
          <a:xfrm>
            <a:off x="462988" y="784441"/>
            <a:ext cx="8194876" cy="5078313"/>
          </a:xfrm>
          <a:prstGeom prst="rect">
            <a:avLst/>
          </a:prstGeom>
          <a:noFill/>
        </p:spPr>
        <p:txBody>
          <a:bodyPr wrap="square" rtlCol="0">
            <a:spAutoFit/>
          </a:bodyPr>
          <a:lstStyle/>
          <a:p>
            <a:pPr marL="342900" indent="-342900" algn="just">
              <a:lnSpc>
                <a:spcPct val="150000"/>
              </a:lnSpc>
              <a:spcAft>
                <a:spcPts val="10"/>
              </a:spcAft>
              <a:buFont typeface="Arial" pitchFamily="34" charset="0"/>
              <a:buChar char="•"/>
            </a:pPr>
            <a:r>
              <a:rPr lang="en-US" b="1" dirty="0"/>
              <a:t>Secure aggregate queries</a:t>
            </a:r>
            <a:r>
              <a:rPr lang="en-US" dirty="0"/>
              <a:t> enable efficient data retrieval while preserving privacy, ensuring minimal query execution time even with large datasets. </a:t>
            </a:r>
            <a:endParaRPr lang="en-US" dirty="0" smtClean="0"/>
          </a:p>
          <a:p>
            <a:pPr marL="342900" indent="-342900" algn="just">
              <a:lnSpc>
                <a:spcPct val="150000"/>
              </a:lnSpc>
              <a:spcAft>
                <a:spcPts val="10"/>
              </a:spcAft>
              <a:buFont typeface="Arial" pitchFamily="34" charset="0"/>
              <a:buChar char="•"/>
            </a:pPr>
            <a:endParaRPr lang="en-US" dirty="0"/>
          </a:p>
          <a:p>
            <a:pPr marL="342900" indent="-342900" algn="just">
              <a:lnSpc>
                <a:spcPct val="150000"/>
              </a:lnSpc>
              <a:spcAft>
                <a:spcPts val="10"/>
              </a:spcAft>
              <a:buFont typeface="Arial" pitchFamily="34" charset="0"/>
              <a:buChar char="•"/>
            </a:pPr>
            <a:r>
              <a:rPr lang="en-US" dirty="0"/>
              <a:t>The cloud-based infrastructure enhances </a:t>
            </a:r>
            <a:r>
              <a:rPr lang="en-US" b="1" dirty="0"/>
              <a:t>scalability</a:t>
            </a:r>
            <a:r>
              <a:rPr lang="en-US" dirty="0"/>
              <a:t>, allowing seamless handling of increasing user loads without performance degradation. </a:t>
            </a:r>
            <a:endParaRPr lang="en-US" dirty="0" smtClean="0"/>
          </a:p>
          <a:p>
            <a:pPr marL="342900" indent="-342900" algn="just">
              <a:lnSpc>
                <a:spcPct val="150000"/>
              </a:lnSpc>
              <a:spcAft>
                <a:spcPts val="10"/>
              </a:spcAft>
              <a:buFont typeface="Arial" pitchFamily="34" charset="0"/>
              <a:buChar char="•"/>
            </a:pPr>
            <a:endParaRPr lang="en-US" dirty="0"/>
          </a:p>
          <a:p>
            <a:pPr marL="342900" indent="-342900" algn="just">
              <a:lnSpc>
                <a:spcPct val="150000"/>
              </a:lnSpc>
              <a:spcAft>
                <a:spcPts val="10"/>
              </a:spcAft>
              <a:buFont typeface="Arial" pitchFamily="34" charset="0"/>
              <a:buChar char="•"/>
            </a:pPr>
            <a:r>
              <a:rPr lang="en-US" dirty="0"/>
              <a:t>System responsiveness is maintained through optimized database queries and load balancing mechanisms. </a:t>
            </a:r>
            <a:endParaRPr lang="en-US" dirty="0" smtClean="0"/>
          </a:p>
          <a:p>
            <a:pPr marL="342900" indent="-342900" algn="just">
              <a:lnSpc>
                <a:spcPct val="150000"/>
              </a:lnSpc>
              <a:spcAft>
                <a:spcPts val="10"/>
              </a:spcAft>
              <a:buFont typeface="Arial" pitchFamily="34" charset="0"/>
              <a:buChar char="•"/>
            </a:pPr>
            <a:endParaRPr lang="en-US" dirty="0"/>
          </a:p>
          <a:p>
            <a:pPr marL="342900" indent="-342900" algn="just">
              <a:lnSpc>
                <a:spcPct val="150000"/>
              </a:lnSpc>
              <a:spcAft>
                <a:spcPts val="10"/>
              </a:spcAft>
              <a:buFont typeface="Arial" pitchFamily="34" charset="0"/>
              <a:buChar char="•"/>
            </a:pPr>
            <a:r>
              <a:rPr lang="en-US" dirty="0"/>
              <a:t>Overall, the system provides a </a:t>
            </a:r>
            <a:r>
              <a:rPr lang="en-US" b="1" dirty="0"/>
              <a:t>highly secure, efficient, and scalable</a:t>
            </a:r>
            <a:r>
              <a:rPr lang="en-US" dirty="0"/>
              <a:t> solution, ensuring fast healthcare service delivery while maintaining strict data privacy and security standards.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4750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24</a:t>
            </a:fld>
            <a:endParaRPr lang="en-IN"/>
          </a:p>
        </p:txBody>
      </p:sp>
      <p:sp>
        <p:nvSpPr>
          <p:cNvPr id="9" name="TextBox 8">
            <a:extLst>
              <a:ext uri="{FF2B5EF4-FFF2-40B4-BE49-F238E27FC236}">
                <a16:creationId xmlns:a16="http://schemas.microsoft.com/office/drawing/2014/main" xmlns="" id="{B979F2A7-DDFE-87AD-65E7-91152A08D60C}"/>
              </a:ext>
            </a:extLst>
          </p:cNvPr>
          <p:cNvSpPr txBox="1"/>
          <p:nvPr/>
        </p:nvSpPr>
        <p:spPr>
          <a:xfrm>
            <a:off x="3563251" y="5971430"/>
            <a:ext cx="2057400" cy="369332"/>
          </a:xfrm>
          <a:prstGeom prst="rect">
            <a:avLst/>
          </a:prstGeom>
          <a:noFill/>
        </p:spPr>
        <p:txBody>
          <a:bodyPr wrap="square" rtlCol="0">
            <a:spAutoFit/>
          </a:bodyPr>
          <a:lstStyle/>
          <a:p>
            <a:pPr algn="ctr"/>
            <a:r>
              <a:rPr lang="en-US" b="1" dirty="0" smtClean="0">
                <a:latin typeface="Times New Roman" panose="02020603050405020304" pitchFamily="18" charset="0"/>
                <a:cs typeface="Times New Roman" panose="02020603050405020304" pitchFamily="18" charset="0"/>
              </a:rPr>
              <a:t>Home Login</a:t>
            </a:r>
            <a:endParaRPr lang="en-IN" b="1" dirty="0">
              <a:latin typeface="Times New Roman" panose="02020603050405020304" pitchFamily="18" charset="0"/>
              <a:cs typeface="Times New Roman" panose="02020603050405020304" pitchFamily="18" charset="0"/>
            </a:endParaRPr>
          </a:p>
        </p:txBody>
      </p:sp>
      <p:pic>
        <p:nvPicPr>
          <p:cNvPr id="11" name="Content Placeholder 3"/>
          <p:cNvPicPr>
            <a:picLocks noGrp="1"/>
          </p:cNvPicPr>
          <p:nvPr/>
        </p:nvPicPr>
        <p:blipFill>
          <a:blip r:embed="rId2">
            <a:extLst>
              <a:ext uri="{28A0092B-C50C-407E-A947-70E740481C1C}">
                <a14:useLocalDpi xmlns:a14="http://schemas.microsoft.com/office/drawing/2010/main" val="0"/>
              </a:ext>
            </a:extLst>
          </a:blip>
          <a:stretch>
            <a:fillRect/>
          </a:stretch>
        </p:blipFill>
        <p:spPr>
          <a:xfrm>
            <a:off x="496711" y="970844"/>
            <a:ext cx="8331200" cy="480906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25</a:t>
            </a:fld>
            <a:endParaRPr lang="en-IN"/>
          </a:p>
        </p:txBody>
      </p:sp>
      <p:sp>
        <p:nvSpPr>
          <p:cNvPr id="10" name="TextBox 9">
            <a:extLst>
              <a:ext uri="{FF2B5EF4-FFF2-40B4-BE49-F238E27FC236}">
                <a16:creationId xmlns:a16="http://schemas.microsoft.com/office/drawing/2014/main" xmlns="" id="{FF59444C-D28B-8076-0828-9024C2DB5482}"/>
              </a:ext>
            </a:extLst>
          </p:cNvPr>
          <p:cNvSpPr txBox="1"/>
          <p:nvPr/>
        </p:nvSpPr>
        <p:spPr>
          <a:xfrm>
            <a:off x="2672851" y="5572420"/>
            <a:ext cx="368862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PROVIDER </a:t>
            </a:r>
            <a:r>
              <a:rPr lang="en-US" b="1" dirty="0" smtClean="0">
                <a:latin typeface="Times New Roman" panose="02020603050405020304" pitchFamily="18" charset="0"/>
                <a:cs typeface="Times New Roman" panose="02020603050405020304" pitchFamily="18" charset="0"/>
              </a:rPr>
              <a:t>REGISTRATION</a:t>
            </a:r>
            <a:endParaRPr lang="en-IN" b="1" dirty="0">
              <a:latin typeface="Times New Roman" panose="02020603050405020304" pitchFamily="18" charset="0"/>
              <a:cs typeface="Times New Roman" panose="02020603050405020304" pitchFamily="18" charset="0"/>
            </a:endParaRPr>
          </a:p>
        </p:txBody>
      </p:sp>
      <p:pic>
        <p:nvPicPr>
          <p:cNvPr id="11" name="Content Placeholder 3"/>
          <p:cNvPicPr>
            <a:picLocks noGrp="1"/>
          </p:cNvPicPr>
          <p:nvPr/>
        </p:nvPicPr>
        <p:blipFill>
          <a:blip r:embed="rId2">
            <a:extLst>
              <a:ext uri="{28A0092B-C50C-407E-A947-70E740481C1C}">
                <a14:useLocalDpi xmlns:a14="http://schemas.microsoft.com/office/drawing/2010/main" val="0"/>
              </a:ext>
            </a:extLst>
          </a:blip>
          <a:stretch>
            <a:fillRect/>
          </a:stretch>
        </p:blipFill>
        <p:spPr>
          <a:xfrm>
            <a:off x="1271106" y="1258357"/>
            <a:ext cx="6601788" cy="40703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26</a:t>
            </a:fld>
            <a:endParaRPr lang="en-IN"/>
          </a:p>
        </p:txBody>
      </p:sp>
      <p:sp>
        <p:nvSpPr>
          <p:cNvPr id="12" name="TextBox 11">
            <a:extLst>
              <a:ext uri="{FF2B5EF4-FFF2-40B4-BE49-F238E27FC236}">
                <a16:creationId xmlns:a16="http://schemas.microsoft.com/office/drawing/2014/main" xmlns="" id="{CD242A6F-3270-CE82-5C43-A117D2AB5006}"/>
              </a:ext>
            </a:extLst>
          </p:cNvPr>
          <p:cNvSpPr txBox="1"/>
          <p:nvPr/>
        </p:nvSpPr>
        <p:spPr>
          <a:xfrm>
            <a:off x="1699543" y="5651082"/>
            <a:ext cx="5986001"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PROVIDER LOGIN </a:t>
            </a:r>
            <a:r>
              <a:rPr lang="en-US" b="1" dirty="0" smtClean="0">
                <a:latin typeface="Times New Roman" panose="02020603050405020304" pitchFamily="18" charset="0"/>
                <a:cs typeface="Times New Roman" panose="02020603050405020304" pitchFamily="18" charset="0"/>
              </a:rPr>
              <a:t>PAGE</a:t>
            </a:r>
            <a:endParaRPr lang="en-IN" b="1" dirty="0">
              <a:latin typeface="Times New Roman" panose="02020603050405020304" pitchFamily="18" charset="0"/>
              <a:cs typeface="Times New Roman" panose="02020603050405020304" pitchFamily="18" charset="0"/>
            </a:endParaRPr>
          </a:p>
        </p:txBody>
      </p:sp>
      <p:pic>
        <p:nvPicPr>
          <p:cNvPr id="9" name="Content Placeholder 3"/>
          <p:cNvPicPr>
            <a:picLocks noGrp="1"/>
          </p:cNvPicPr>
          <p:nvPr/>
        </p:nvPicPr>
        <p:blipFill>
          <a:blip r:embed="rId2">
            <a:extLst>
              <a:ext uri="{28A0092B-C50C-407E-A947-70E740481C1C}">
                <a14:useLocalDpi xmlns:a14="http://schemas.microsoft.com/office/drawing/2010/main" val="0"/>
              </a:ext>
            </a:extLst>
          </a:blip>
          <a:stretch>
            <a:fillRect/>
          </a:stretch>
        </p:blipFill>
        <p:spPr>
          <a:xfrm>
            <a:off x="575733" y="1385078"/>
            <a:ext cx="7857067" cy="4020111"/>
          </a:xfrm>
          <a:prstGeom prst="rect">
            <a:avLst/>
          </a:prstGeom>
        </p:spPr>
      </p:pic>
    </p:spTree>
    <p:extLst>
      <p:ext uri="{BB962C8B-B14F-4D97-AF65-F5344CB8AC3E}">
        <p14:creationId xmlns:p14="http://schemas.microsoft.com/office/powerpoint/2010/main" val="2576670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27</a:t>
            </a:fld>
            <a:endParaRPr lang="en-IN"/>
          </a:p>
        </p:txBody>
      </p:sp>
      <p:sp>
        <p:nvSpPr>
          <p:cNvPr id="14" name="TextBox 13">
            <a:extLst>
              <a:ext uri="{FF2B5EF4-FFF2-40B4-BE49-F238E27FC236}">
                <a16:creationId xmlns:a16="http://schemas.microsoft.com/office/drawing/2014/main" xmlns="" id="{73FE8856-5059-6819-8E73-65F1884CFDF3}"/>
              </a:ext>
            </a:extLst>
          </p:cNvPr>
          <p:cNvSpPr txBox="1"/>
          <p:nvPr/>
        </p:nvSpPr>
        <p:spPr>
          <a:xfrm>
            <a:off x="3451123" y="5755345"/>
            <a:ext cx="232041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USER HOME </a:t>
            </a:r>
            <a:r>
              <a:rPr lang="en-US" b="1" dirty="0" smtClean="0">
                <a:latin typeface="Times New Roman" panose="02020603050405020304" pitchFamily="18" charset="0"/>
                <a:cs typeface="Times New Roman" panose="02020603050405020304" pitchFamily="18" charset="0"/>
              </a:rPr>
              <a:t>PAGE</a:t>
            </a:r>
            <a:endParaRPr lang="en-IN" b="1" dirty="0">
              <a:latin typeface="Times New Roman" panose="02020603050405020304" pitchFamily="18" charset="0"/>
              <a:cs typeface="Times New Roman" panose="02020603050405020304" pitchFamily="18" charset="0"/>
            </a:endParaRPr>
          </a:p>
        </p:txBody>
      </p:sp>
      <p:pic>
        <p:nvPicPr>
          <p:cNvPr id="11" name="Content Placeholder 3"/>
          <p:cNvPicPr>
            <a:picLocks noGrp="1"/>
          </p:cNvPicPr>
          <p:nvPr/>
        </p:nvPicPr>
        <p:blipFill>
          <a:blip r:embed="rId2">
            <a:extLst>
              <a:ext uri="{28A0092B-C50C-407E-A947-70E740481C1C}">
                <a14:useLocalDpi xmlns:a14="http://schemas.microsoft.com/office/drawing/2010/main" val="0"/>
              </a:ext>
            </a:extLst>
          </a:blip>
          <a:stretch>
            <a:fillRect/>
          </a:stretch>
        </p:blipFill>
        <p:spPr>
          <a:xfrm>
            <a:off x="184150" y="1096256"/>
            <a:ext cx="8775700" cy="4371975"/>
          </a:xfrm>
          <a:prstGeom prst="rect">
            <a:avLst/>
          </a:prstGeom>
        </p:spPr>
      </p:pic>
    </p:spTree>
    <p:extLst>
      <p:ext uri="{BB962C8B-B14F-4D97-AF65-F5344CB8AC3E}">
        <p14:creationId xmlns:p14="http://schemas.microsoft.com/office/powerpoint/2010/main" val="441470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28</a:t>
            </a:fld>
            <a:endParaRPr lang="en-IN"/>
          </a:p>
        </p:txBody>
      </p:sp>
      <p:sp>
        <p:nvSpPr>
          <p:cNvPr id="15" name="TextBox 14">
            <a:extLst>
              <a:ext uri="{FF2B5EF4-FFF2-40B4-BE49-F238E27FC236}">
                <a16:creationId xmlns:a16="http://schemas.microsoft.com/office/drawing/2014/main" xmlns="" id="{68B569A8-342B-BE31-AE19-5D8CFC2100ED}"/>
              </a:ext>
            </a:extLst>
          </p:cNvPr>
          <p:cNvSpPr txBox="1"/>
          <p:nvPr/>
        </p:nvSpPr>
        <p:spPr>
          <a:xfrm>
            <a:off x="2496766" y="5815312"/>
            <a:ext cx="4021394" cy="369332"/>
          </a:xfrm>
          <a:prstGeom prst="rect">
            <a:avLst/>
          </a:prstGeom>
          <a:noFill/>
        </p:spPr>
        <p:txBody>
          <a:bodyPr wrap="square" rtlCol="0">
            <a:spAutoFit/>
          </a:bodyPr>
          <a:lstStyle/>
          <a:p>
            <a:r>
              <a:rPr lang="en-GB" b="1" dirty="0">
                <a:latin typeface="Times New Roman" pitchFamily="18" charset="0"/>
                <a:cs typeface="Times New Roman" pitchFamily="18" charset="0"/>
              </a:rPr>
              <a:t>VIEW SERVICE DETAILS </a:t>
            </a:r>
            <a:r>
              <a:rPr lang="en-GB" b="1" dirty="0" smtClean="0">
                <a:latin typeface="Times New Roman" pitchFamily="18" charset="0"/>
                <a:cs typeface="Times New Roman" pitchFamily="18" charset="0"/>
              </a:rPr>
              <a:t>PAGE</a:t>
            </a:r>
            <a:endParaRPr lang="en-IN" b="1" dirty="0">
              <a:latin typeface="Times New Roman" panose="02020603050405020304" pitchFamily="18" charset="0"/>
              <a:cs typeface="Times New Roman" panose="02020603050405020304" pitchFamily="18" charset="0"/>
            </a:endParaRPr>
          </a:p>
        </p:txBody>
      </p:sp>
      <p:pic>
        <p:nvPicPr>
          <p:cNvPr id="10" name="Picture 9" descr="C:\Users\user\Pictures\Screenshots\image\dna view service.JPG"/>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865" y="1393825"/>
            <a:ext cx="8386271" cy="407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1720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29</a:t>
            </a:fld>
            <a:endParaRPr lang="en-IN"/>
          </a:p>
        </p:txBody>
      </p:sp>
      <p:sp>
        <p:nvSpPr>
          <p:cNvPr id="15" name="TextBox 14">
            <a:extLst>
              <a:ext uri="{FF2B5EF4-FFF2-40B4-BE49-F238E27FC236}">
                <a16:creationId xmlns:a16="http://schemas.microsoft.com/office/drawing/2014/main" xmlns="" id="{68B569A8-342B-BE31-AE19-5D8CFC2100ED}"/>
              </a:ext>
            </a:extLst>
          </p:cNvPr>
          <p:cNvSpPr txBox="1"/>
          <p:nvPr/>
        </p:nvSpPr>
        <p:spPr>
          <a:xfrm>
            <a:off x="2530633" y="5815312"/>
            <a:ext cx="4021394" cy="369332"/>
          </a:xfrm>
          <a:prstGeom prst="rect">
            <a:avLst/>
          </a:prstGeom>
          <a:noFill/>
        </p:spPr>
        <p:txBody>
          <a:bodyPr wrap="square" rtlCol="0">
            <a:spAutoFit/>
          </a:bodyPr>
          <a:lstStyle/>
          <a:p>
            <a:r>
              <a:rPr lang="en-GB" b="1" dirty="0">
                <a:latin typeface="Times New Roman" pitchFamily="18" charset="0"/>
                <a:cs typeface="Times New Roman" pitchFamily="18" charset="0"/>
              </a:rPr>
              <a:t>ADD HEALTH RECORD </a:t>
            </a:r>
            <a:r>
              <a:rPr lang="en-GB" b="1" dirty="0" smtClean="0">
                <a:latin typeface="Times New Roman" pitchFamily="18" charset="0"/>
                <a:cs typeface="Times New Roman" pitchFamily="18" charset="0"/>
              </a:rPr>
              <a:t>DETAILS</a:t>
            </a:r>
            <a:endParaRPr lang="en-IN" b="1" dirty="0">
              <a:latin typeface="Times New Roman" panose="02020603050405020304" pitchFamily="18" charset="0"/>
              <a:cs typeface="Times New Roman" panose="02020603050405020304" pitchFamily="18" charset="0"/>
            </a:endParaRPr>
          </a:p>
        </p:txBody>
      </p:sp>
      <p:pic>
        <p:nvPicPr>
          <p:cNvPr id="8" name="Picture 7" descr="C:\Users\user\Pictures\Screenshots\image\health.JPG"/>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869" y="1393825"/>
            <a:ext cx="7980262" cy="407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55096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663" y="215004"/>
            <a:ext cx="7886700" cy="530258"/>
          </a:xfrm>
        </p:spPr>
        <p:txBody>
          <a:bodyPr>
            <a:noAutofit/>
          </a:bodyPr>
          <a:lstStyle/>
          <a:p>
            <a:pPr algn="ctr"/>
            <a:r>
              <a:rPr lang="en-US" sz="3200"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Conclusion / Feature Enhancement  </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30</a:t>
            </a:fld>
            <a:endParaRPr lang="en-IN"/>
          </a:p>
        </p:txBody>
      </p:sp>
      <p:sp>
        <p:nvSpPr>
          <p:cNvPr id="7" name="TextBox 6"/>
          <p:cNvSpPr txBox="1"/>
          <p:nvPr/>
        </p:nvSpPr>
        <p:spPr>
          <a:xfrm>
            <a:off x="628650" y="1022555"/>
            <a:ext cx="7886700" cy="5078313"/>
          </a:xfrm>
          <a:prstGeom prst="rect">
            <a:avLst/>
          </a:prstGeom>
          <a:noFill/>
        </p:spPr>
        <p:txBody>
          <a:bodyPr wrap="square" rtlCol="0">
            <a:spAutoFit/>
          </a:bodyPr>
          <a:lstStyle/>
          <a:p>
            <a:pPr marL="285750" indent="-285750" algn="just">
              <a:lnSpc>
                <a:spcPct val="150000"/>
              </a:lnSpc>
              <a:buFont typeface="Arial" pitchFamily="34" charset="0"/>
              <a:buChar char="•"/>
            </a:pPr>
            <a:r>
              <a:rPr lang="en-IN" dirty="0">
                <a:latin typeface="Times New Roman" pitchFamily="18" charset="0"/>
                <a:cs typeface="Times New Roman" pitchFamily="18" charset="0"/>
              </a:rPr>
              <a:t>In conclusion, the proposed web-based healthcare management system offers efficient, and user-friendly solution for enhancing the interactions between hospitals, doctors, and patients. </a:t>
            </a:r>
            <a:endParaRPr lang="en-IN" dirty="0" smtClean="0">
              <a:latin typeface="Times New Roman" pitchFamily="18" charset="0"/>
              <a:cs typeface="Times New Roman" pitchFamily="18" charset="0"/>
            </a:endParaRPr>
          </a:p>
          <a:p>
            <a:pPr marL="285750" indent="-285750" algn="just">
              <a:lnSpc>
                <a:spcPct val="150000"/>
              </a:lnSpc>
              <a:buFont typeface="Arial" pitchFamily="34" charset="0"/>
              <a:buChar char="•"/>
            </a:pPr>
            <a:r>
              <a:rPr lang="en-IN" dirty="0" smtClean="0">
                <a:latin typeface="Times New Roman" pitchFamily="18" charset="0"/>
                <a:cs typeface="Times New Roman" pitchFamily="18" charset="0"/>
              </a:rPr>
              <a:t>By </a:t>
            </a:r>
            <a:r>
              <a:rPr lang="en-IN" dirty="0">
                <a:latin typeface="Times New Roman" pitchFamily="18" charset="0"/>
                <a:cs typeface="Times New Roman" pitchFamily="18" charset="0"/>
              </a:rPr>
              <a:t>integrating features such as communication, DNA sequence analysis using the Smith-Waterman algorithm, and an intuitive interface, the system ensures that both patients and doctors can communicate. </a:t>
            </a:r>
            <a:endParaRPr lang="en-IN" dirty="0" smtClean="0">
              <a:latin typeface="Times New Roman" pitchFamily="18" charset="0"/>
              <a:cs typeface="Times New Roman" pitchFamily="18" charset="0"/>
            </a:endParaRPr>
          </a:p>
          <a:p>
            <a:pPr marL="285750" indent="-285750" algn="just">
              <a:lnSpc>
                <a:spcPct val="150000"/>
              </a:lnSpc>
              <a:buFont typeface="Arial" pitchFamily="34" charset="0"/>
              <a:buChar char="•"/>
            </a:pPr>
            <a:r>
              <a:rPr lang="en-IN" dirty="0" smtClean="0">
                <a:latin typeface="Times New Roman" pitchFamily="18" charset="0"/>
                <a:cs typeface="Times New Roman" pitchFamily="18" charset="0"/>
              </a:rPr>
              <a:t>The </a:t>
            </a:r>
            <a:r>
              <a:rPr lang="en-IN" dirty="0">
                <a:latin typeface="Times New Roman" pitchFamily="18" charset="0"/>
                <a:cs typeface="Times New Roman" pitchFamily="18" charset="0"/>
              </a:rPr>
              <a:t>use of AES encryption provides robust security, protecting personal data, while the platform's administrative controls ensure seamless operation and regulatory compliance. </a:t>
            </a:r>
            <a:endParaRPr lang="en-IN" dirty="0" smtClean="0">
              <a:latin typeface="Times New Roman" pitchFamily="18" charset="0"/>
              <a:cs typeface="Times New Roman" pitchFamily="18" charset="0"/>
            </a:endParaRPr>
          </a:p>
          <a:p>
            <a:pPr marL="285750" indent="-285750" algn="just">
              <a:lnSpc>
                <a:spcPct val="150000"/>
              </a:lnSpc>
              <a:buFont typeface="Arial" pitchFamily="34" charset="0"/>
              <a:buChar char="•"/>
            </a:pPr>
            <a:r>
              <a:rPr lang="en-IN" dirty="0" smtClean="0">
                <a:latin typeface="Times New Roman" pitchFamily="18" charset="0"/>
                <a:cs typeface="Times New Roman" pitchFamily="18" charset="0"/>
              </a:rPr>
              <a:t>This </a:t>
            </a:r>
            <a:r>
              <a:rPr lang="en-IN" dirty="0">
                <a:latin typeface="Times New Roman" pitchFamily="18" charset="0"/>
                <a:cs typeface="Times New Roman" pitchFamily="18" charset="0"/>
              </a:rPr>
              <a:t>system not only improves the quality of healthcare services by enabling personalized diagnostic solutions but also streamlines the management of healthcare services for hospitals and doctors. </a:t>
            </a:r>
            <a:endParaRPr lang="en-IN" dirty="0" smtClean="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663" y="215004"/>
            <a:ext cx="7886700" cy="530258"/>
          </a:xfrm>
        </p:spPr>
        <p:txBody>
          <a:bodyPr>
            <a:noAutofit/>
          </a:bodyPr>
          <a:lstStyle/>
          <a:p>
            <a:pPr algn="ctr"/>
            <a:r>
              <a:rPr lang="en-US" sz="3200" b="1" dirty="0">
                <a:solidFill>
                  <a:srgbClr val="7030A0"/>
                </a:solidFill>
                <a:latin typeface="Times New Roman" panose="02020603050405020304" pitchFamily="18" charset="0"/>
                <a:ea typeface="Calibri" panose="020F0502020204030204" pitchFamily="34" charset="0"/>
                <a:cs typeface="Times New Roman" panose="02020603050405020304" pitchFamily="18" charset="0"/>
              </a:rPr>
              <a:t>Conclusion / Feature Enhancement  </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9D3FF152-60F5-4862-82F9-1190556AA56F}" type="slidenum">
              <a:rPr lang="en-IN" smtClean="0"/>
              <a:t>31</a:t>
            </a:fld>
            <a:endParaRPr lang="en-IN"/>
          </a:p>
        </p:txBody>
      </p:sp>
      <p:sp>
        <p:nvSpPr>
          <p:cNvPr id="7" name="TextBox 6"/>
          <p:cNvSpPr txBox="1"/>
          <p:nvPr/>
        </p:nvSpPr>
        <p:spPr>
          <a:xfrm>
            <a:off x="628650" y="1022555"/>
            <a:ext cx="7886700" cy="5078313"/>
          </a:xfrm>
          <a:prstGeom prst="rect">
            <a:avLst/>
          </a:prstGeom>
          <a:noFill/>
        </p:spPr>
        <p:txBody>
          <a:bodyPr wrap="square" rtlCol="0">
            <a:spAutoFit/>
          </a:bodyPr>
          <a:lstStyle/>
          <a:p>
            <a:pPr marL="285750" indent="-285750" algn="just">
              <a:lnSpc>
                <a:spcPct val="150000"/>
              </a:lnSpc>
              <a:buFont typeface="Arial" pitchFamily="34" charset="0"/>
              <a:buChar char="•"/>
            </a:pPr>
            <a:r>
              <a:rPr lang="en-IN" dirty="0">
                <a:latin typeface="Times New Roman" pitchFamily="18" charset="0"/>
                <a:cs typeface="Times New Roman" pitchFamily="18" charset="0"/>
              </a:rPr>
              <a:t>Furthermore, the system is scalable and can be expanded to incorporate future technologies By combining innovative technology with a focus on security and ease of use, the system promises to significantly improve healthcare delivery, enhance patient trust, and create a more efficient medical service ecosystem</a:t>
            </a:r>
            <a:r>
              <a:rPr lang="en-IN" dirty="0" smtClean="0">
                <a:latin typeface="Times New Roman" pitchFamily="18" charset="0"/>
                <a:cs typeface="Times New Roman" pitchFamily="18" charset="0"/>
              </a:rPr>
              <a:t>.</a:t>
            </a:r>
          </a:p>
          <a:p>
            <a:pPr marL="285750" indent="-285750" algn="just">
              <a:lnSpc>
                <a:spcPct val="150000"/>
              </a:lnSpc>
              <a:buFont typeface="Arial" pitchFamily="34" charset="0"/>
              <a:buChar char="•"/>
            </a:pPr>
            <a:endParaRPr lang="en-US" dirty="0">
              <a:latin typeface="Times New Roman" pitchFamily="18" charset="0"/>
              <a:cs typeface="Times New Roman" pitchFamily="18" charset="0"/>
            </a:endParaRPr>
          </a:p>
          <a:p>
            <a:pPr marL="285750" indent="-285750" algn="just">
              <a:lnSpc>
                <a:spcPct val="150000"/>
              </a:lnSpc>
              <a:buFont typeface="Arial" pitchFamily="34" charset="0"/>
              <a:buChar char="•"/>
            </a:pPr>
            <a:r>
              <a:rPr lang="en-GB" dirty="0">
                <a:latin typeface="Times New Roman" pitchFamily="18" charset="0"/>
                <a:cs typeface="Times New Roman" pitchFamily="18" charset="0"/>
              </a:rPr>
              <a:t>Big data analytics over genetic data is a good future work direction. There are rapid recent advancements that address performance limitations of </a:t>
            </a:r>
            <a:r>
              <a:rPr lang="en-GB" dirty="0" err="1">
                <a:latin typeface="Times New Roman" pitchFamily="18" charset="0"/>
                <a:cs typeface="Times New Roman" pitchFamily="18" charset="0"/>
              </a:rPr>
              <a:t>homomorphic</a:t>
            </a:r>
            <a:r>
              <a:rPr lang="en-GB" dirty="0">
                <a:latin typeface="Times New Roman" pitchFamily="18" charset="0"/>
                <a:cs typeface="Times New Roman" pitchFamily="18" charset="0"/>
              </a:rPr>
              <a:t> encryption techniques. We hope that these advancements will lead to more practical solutions in the future that can handle larger-scale genetics data. It is worth mentioning that our approach is not restricted to a fixed </a:t>
            </a:r>
            <a:r>
              <a:rPr lang="en-GB" dirty="0" err="1">
                <a:latin typeface="Times New Roman" pitchFamily="18" charset="0"/>
                <a:cs typeface="Times New Roman" pitchFamily="18" charset="0"/>
              </a:rPr>
              <a:t>homomorphic</a:t>
            </a:r>
            <a:r>
              <a:rPr lang="en-GB" dirty="0">
                <a:latin typeface="Times New Roman" pitchFamily="18" charset="0"/>
                <a:cs typeface="Times New Roman" pitchFamily="18" charset="0"/>
              </a:rPr>
              <a:t> encryption technique and therefore, it would be possible to use and inherit the advantages of newly developed ones</a:t>
            </a:r>
            <a:r>
              <a:rPr lang="en-GB" dirty="0" smtClean="0">
                <a:latin typeface="Times New Roman" pitchFamily="18" charset="0"/>
                <a:cs typeface="Times New Roman" pitchFamily="18" charset="0"/>
              </a:rPr>
              <a:t>.</a:t>
            </a: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6822740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Reference </a:t>
            </a:r>
            <a:r>
              <a:rPr lang="en-US" sz="3200" b="1" dirty="0" smtClean="0">
                <a:solidFill>
                  <a:srgbClr val="7030A0"/>
                </a:solidFill>
                <a:latin typeface="Times New Roman" panose="02020603050405020304" pitchFamily="18" charset="0"/>
                <a:cs typeface="Times New Roman" panose="02020603050405020304" pitchFamily="18" charset="0"/>
              </a:rPr>
              <a:t>Paper</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9D3FF152-60F5-4862-82F9-1190556AA56F}" type="slidenum">
              <a:rPr lang="en-IN" smtClean="0"/>
              <a:t>32</a:t>
            </a:fld>
            <a:endParaRPr lang="en-IN"/>
          </a:p>
        </p:txBody>
      </p:sp>
      <p:sp>
        <p:nvSpPr>
          <p:cNvPr id="8" name="TextBox 7"/>
          <p:cNvSpPr txBox="1"/>
          <p:nvPr/>
        </p:nvSpPr>
        <p:spPr>
          <a:xfrm>
            <a:off x="370390" y="722315"/>
            <a:ext cx="8449519" cy="5632311"/>
          </a:xfrm>
          <a:prstGeom prst="rect">
            <a:avLst/>
          </a:prstGeom>
          <a:noFill/>
        </p:spPr>
        <p:txBody>
          <a:bodyPr wrap="square" rtlCol="0">
            <a:spAutoFit/>
          </a:bodyPr>
          <a:lstStyle/>
          <a:p>
            <a:pPr algn="just">
              <a:lnSpc>
                <a:spcPct val="150000"/>
              </a:lnSpc>
              <a:buNone/>
            </a:pPr>
            <a:r>
              <a:rPr lang="en-US" sz="1600" dirty="0">
                <a:latin typeface="Times New Roman" pitchFamily="18" charset="0"/>
                <a:cs typeface="Times New Roman" pitchFamily="18" charset="0"/>
              </a:rPr>
              <a:t>[1]  ASAD USMANI AND LENA WIESE, “DNA-Based Storage of RDF Graph Data: A Futuristic Approach to Data Analytics,” VOLUME 11,November2023</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a:p>
            <a:pPr algn="just">
              <a:lnSpc>
                <a:spcPct val="150000"/>
              </a:lnSpc>
              <a:buNone/>
            </a:pPr>
            <a:r>
              <a:rPr lang="en-US" sz="1600" dirty="0">
                <a:latin typeface="Times New Roman" pitchFamily="18" charset="0"/>
                <a:cs typeface="Times New Roman" pitchFamily="18" charset="0"/>
              </a:rPr>
              <a:t>[2] UNTARI NOVIA WISESTY, AYU PURWARIANTI, ADI PANCORO , AMRITA CHATTOPADHYAY , NAM NHUT PHAN , ERIC Y. CHUANG , AND TATI RAJAB MENGKO, “Join Classifier of Type and Index Mutation on Lung Cancer DNA Using Sequential Labeling Model,” VOLUME 10,January2022</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a:p>
            <a:pPr algn="just">
              <a:lnSpc>
                <a:spcPct val="150000"/>
              </a:lnSpc>
              <a:buNone/>
            </a:pPr>
            <a:r>
              <a:rPr lang="en-US" sz="1600" dirty="0">
                <a:latin typeface="Times New Roman" pitchFamily="18" charset="0"/>
                <a:cs typeface="Times New Roman" pitchFamily="18" charset="0"/>
              </a:rPr>
              <a:t>[3]Sara H. </a:t>
            </a:r>
            <a:r>
              <a:rPr lang="en-US" sz="1600" dirty="0" err="1">
                <a:latin typeface="Times New Roman" pitchFamily="18" charset="0"/>
                <a:cs typeface="Times New Roman" pitchFamily="18" charset="0"/>
              </a:rPr>
              <a:t>Katsanis</a:t>
            </a:r>
            <a:r>
              <a:rPr lang="en-US" sz="1600" dirty="0">
                <a:latin typeface="Times New Roman" pitchFamily="18" charset="0"/>
                <a:cs typeface="Times New Roman" pitchFamily="18" charset="0"/>
              </a:rPr>
              <a:t> , Peter </a:t>
            </a:r>
            <a:r>
              <a:rPr lang="en-US" sz="1600" dirty="0" err="1">
                <a:latin typeface="Times New Roman" pitchFamily="18" charset="0"/>
                <a:cs typeface="Times New Roman" pitchFamily="18" charset="0"/>
              </a:rPr>
              <a:t>Claes</a:t>
            </a:r>
            <a:r>
              <a:rPr lang="en-US" sz="1600" dirty="0">
                <a:latin typeface="Times New Roman" pitchFamily="18" charset="0"/>
                <a:cs typeface="Times New Roman" pitchFamily="18" charset="0"/>
              </a:rPr>
              <a:t> , Megan </a:t>
            </a:r>
            <a:r>
              <a:rPr lang="en-US" sz="1600" dirty="0" err="1">
                <a:latin typeface="Times New Roman" pitchFamily="18" charset="0"/>
                <a:cs typeface="Times New Roman" pitchFamily="18" charset="0"/>
              </a:rPr>
              <a:t>Doerr</a:t>
            </a:r>
            <a:r>
              <a:rPr lang="en-US" sz="1600" dirty="0">
                <a:latin typeface="Times New Roman" pitchFamily="18" charset="0"/>
                <a:cs typeface="Times New Roman" pitchFamily="18" charset="0"/>
              </a:rPr>
              <a:t> , Robert Cook-</a:t>
            </a:r>
            <a:r>
              <a:rPr lang="en-US" sz="1600" dirty="0" err="1">
                <a:latin typeface="Times New Roman" pitchFamily="18" charset="0"/>
                <a:cs typeface="Times New Roman" pitchFamily="18" charset="0"/>
              </a:rPr>
              <a:t>Deegan</a:t>
            </a:r>
            <a:r>
              <a:rPr lang="en-US" sz="1600" dirty="0">
                <a:latin typeface="Times New Roman" pitchFamily="18" charset="0"/>
                <a:cs typeface="Times New Roman" pitchFamily="18" charset="0"/>
              </a:rPr>
              <a:t> , Jessica D. </a:t>
            </a:r>
            <a:r>
              <a:rPr lang="en-US" sz="1600" dirty="0" err="1">
                <a:latin typeface="Times New Roman" pitchFamily="18" charset="0"/>
                <a:cs typeface="Times New Roman" pitchFamily="18" charset="0"/>
              </a:rPr>
              <a:t>Tenenbaum</a:t>
            </a:r>
            <a:r>
              <a:rPr lang="en-US" sz="1600" dirty="0">
                <a:latin typeface="Times New Roman" pitchFamily="18" charset="0"/>
                <a:cs typeface="Times New Roman" pitchFamily="18" charset="0"/>
              </a:rPr>
              <a:t> , Barbara J. Evans , </a:t>
            </a:r>
            <a:r>
              <a:rPr lang="en-US" sz="1600" dirty="0" err="1">
                <a:latin typeface="Times New Roman" pitchFamily="18" charset="0"/>
                <a:cs typeface="Times New Roman" pitchFamily="18" charset="0"/>
              </a:rPr>
              <a:t>MyoungKeun</a:t>
            </a:r>
            <a:r>
              <a:rPr lang="en-US" sz="1600" dirty="0">
                <a:latin typeface="Times New Roman" pitchFamily="18" charset="0"/>
                <a:cs typeface="Times New Roman" pitchFamily="18" charset="0"/>
              </a:rPr>
              <a:t> Lee, Joel </a:t>
            </a:r>
            <a:r>
              <a:rPr lang="en-US" sz="1600" dirty="0" err="1">
                <a:latin typeface="Times New Roman" pitchFamily="18" charset="0"/>
                <a:cs typeface="Times New Roman" pitchFamily="18" charset="0"/>
              </a:rPr>
              <a:t>Anderton</a:t>
            </a:r>
            <a:r>
              <a:rPr lang="en-US" sz="1600" dirty="0">
                <a:latin typeface="Times New Roman" pitchFamily="18" charset="0"/>
                <a:cs typeface="Times New Roman" pitchFamily="18" charset="0"/>
              </a:rPr>
              <a:t>, Seth M. Weinberg , and Jennifer K. Wagner, “U.S. Adult Perspectives on Facial Images, DNA, and Other Biometrics.,” VOLUME 3,MARCH 2022</a:t>
            </a:r>
            <a:r>
              <a:rPr lang="en-US" sz="1600" dirty="0" smtClean="0">
                <a:latin typeface="Times New Roman" pitchFamily="18" charset="0"/>
                <a:cs typeface="Times New Roman" pitchFamily="18" charset="0"/>
              </a:rPr>
              <a:t>.</a:t>
            </a:r>
          </a:p>
          <a:p>
            <a:pPr algn="just">
              <a:lnSpc>
                <a:spcPct val="150000"/>
              </a:lnSpc>
              <a:buNone/>
            </a:pPr>
            <a:r>
              <a:rPr lang="en-US" sz="1600" dirty="0">
                <a:latin typeface="Times New Roman" pitchFamily="18" charset="0"/>
                <a:cs typeface="Times New Roman" pitchFamily="18" charset="0"/>
              </a:rPr>
              <a:t>[4]Ho </a:t>
            </a:r>
            <a:r>
              <a:rPr lang="en-US" sz="1600" dirty="0" err="1">
                <a:latin typeface="Times New Roman" pitchFamily="18" charset="0"/>
                <a:cs typeface="Times New Roman" pitchFamily="18" charset="0"/>
              </a:rPr>
              <a:t>Bae</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Seonwoo</a:t>
            </a:r>
            <a:r>
              <a:rPr lang="en-US" sz="1600" dirty="0">
                <a:latin typeface="Times New Roman" pitchFamily="18" charset="0"/>
                <a:cs typeface="Times New Roman" pitchFamily="18" charset="0"/>
              </a:rPr>
              <a:t> Min , Hyun-</a:t>
            </a:r>
            <a:r>
              <a:rPr lang="en-US" sz="1600" dirty="0" err="1">
                <a:latin typeface="Times New Roman" pitchFamily="18" charset="0"/>
                <a:cs typeface="Times New Roman" pitchFamily="18" charset="0"/>
              </a:rPr>
              <a:t>Soo</a:t>
            </a:r>
            <a:r>
              <a:rPr lang="en-US" sz="1600" dirty="0">
                <a:latin typeface="Times New Roman" pitchFamily="18" charset="0"/>
                <a:cs typeface="Times New Roman" pitchFamily="18" charset="0"/>
              </a:rPr>
              <a:t> Choi , and </a:t>
            </a:r>
            <a:r>
              <a:rPr lang="en-US" sz="1600" dirty="0" err="1">
                <a:latin typeface="Times New Roman" pitchFamily="18" charset="0"/>
                <a:cs typeface="Times New Roman" pitchFamily="18" charset="0"/>
              </a:rPr>
              <a:t>Sungroh</a:t>
            </a:r>
            <a:r>
              <a:rPr lang="en-US" sz="1600" dirty="0">
                <a:latin typeface="Times New Roman" pitchFamily="18" charset="0"/>
                <a:cs typeface="Times New Roman" pitchFamily="18" charset="0"/>
              </a:rPr>
              <a:t> Yoon, “DNA Privacy: Analyzing Malicious DNA Sequences Using Deep Neural Networks,” VOLUME 19,March2022</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a:p>
            <a:pPr algn="just">
              <a:lnSpc>
                <a:spcPct val="150000"/>
              </a:lnSpc>
              <a:buNone/>
            </a:pPr>
            <a:r>
              <a:rPr lang="en-US" sz="1600" dirty="0">
                <a:latin typeface="Times New Roman" pitchFamily="18" charset="0"/>
                <a:cs typeface="Times New Roman" pitchFamily="18" charset="0"/>
              </a:rPr>
              <a:t>[5]David Ku </a:t>
            </a:r>
            <a:r>
              <a:rPr lang="en-US" sz="1600" dirty="0" err="1">
                <a:latin typeface="Times New Roman" pitchFamily="18" charset="0"/>
                <a:cs typeface="Times New Roman" pitchFamily="18" charset="0"/>
              </a:rPr>
              <a:t>tak</a:t>
            </a:r>
            <a:r>
              <a:rPr lang="en-US" sz="1600" dirty="0">
                <a:latin typeface="Times New Roman" pitchFamily="18" charset="0"/>
                <a:cs typeface="Times New Roman" pitchFamily="18" charset="0"/>
              </a:rPr>
              <a:t> , Matias Nicolas </a:t>
            </a:r>
            <a:r>
              <a:rPr lang="en-US" sz="1600" dirty="0" err="1">
                <a:latin typeface="Times New Roman" pitchFamily="18" charset="0"/>
                <a:cs typeface="Times New Roman" pitchFamily="18" charset="0"/>
              </a:rPr>
              <a:t>Selzer</a:t>
            </a:r>
            <a:r>
              <a:rPr lang="en-US" sz="1600" dirty="0">
                <a:latin typeface="Times New Roman" pitchFamily="18" charset="0"/>
                <a:cs typeface="Times New Roman" pitchFamily="18" charset="0"/>
              </a:rPr>
              <a:t>  , Jan By </a:t>
            </a:r>
            <a:r>
              <a:rPr lang="en-US" sz="1600" dirty="0" err="1">
                <a:latin typeface="Times New Roman" pitchFamily="18" charset="0"/>
                <a:cs typeface="Times New Roman" pitchFamily="18" charset="0"/>
              </a:rPr>
              <a:t>ska</a:t>
            </a:r>
            <a:r>
              <a:rPr lang="en-US" sz="1600" dirty="0">
                <a:latin typeface="Times New Roman" pitchFamily="18" charset="0"/>
                <a:cs typeface="Times New Roman" pitchFamily="18" charset="0"/>
              </a:rPr>
              <a:t> , </a:t>
            </a:r>
            <a:r>
              <a:rPr lang="en-US" sz="1600" dirty="0" err="1">
                <a:latin typeface="Times New Roman" pitchFamily="18" charset="0"/>
                <a:cs typeface="Times New Roman" pitchFamily="18" charset="0"/>
              </a:rPr>
              <a:t>Marı´a</a:t>
            </a:r>
            <a:r>
              <a:rPr lang="en-US" sz="1600" dirty="0">
                <a:latin typeface="Times New Roman" pitchFamily="18" charset="0"/>
                <a:cs typeface="Times New Roman" pitchFamily="18" charset="0"/>
              </a:rPr>
              <a:t> Lujan </a:t>
            </a:r>
            <a:r>
              <a:rPr lang="en-US" sz="1600" dirty="0" err="1">
                <a:latin typeface="Times New Roman" pitchFamily="18" charset="0"/>
                <a:cs typeface="Times New Roman" pitchFamily="18" charset="0"/>
              </a:rPr>
              <a:t>Ganuza</a:t>
            </a:r>
            <a:r>
              <a:rPr lang="en-US" sz="1600" dirty="0">
                <a:latin typeface="Times New Roman" pitchFamily="18" charset="0"/>
                <a:cs typeface="Times New Roman" pitchFamily="18" charset="0"/>
              </a:rPr>
              <a:t>  , Ivan Bari sic , </a:t>
            </a:r>
            <a:r>
              <a:rPr lang="en-US" sz="1600" dirty="0" err="1">
                <a:latin typeface="Times New Roman" pitchFamily="18" charset="0"/>
                <a:cs typeface="Times New Roman" pitchFamily="18" charset="0"/>
              </a:rPr>
              <a:t>BarboraKozlıkova</a:t>
            </a:r>
            <a:r>
              <a:rPr lang="en-US" sz="1600" dirty="0">
                <a:latin typeface="Times New Roman" pitchFamily="18" charset="0"/>
                <a:cs typeface="Times New Roman" pitchFamily="18" charset="0"/>
              </a:rPr>
              <a:t> , and </a:t>
            </a:r>
            <a:r>
              <a:rPr lang="en-US" sz="1600" dirty="0" err="1">
                <a:latin typeface="Times New Roman" pitchFamily="18" charset="0"/>
                <a:cs typeface="Times New Roman" pitchFamily="18" charset="0"/>
              </a:rPr>
              <a:t>Haichao</a:t>
            </a:r>
            <a:r>
              <a:rPr lang="en-US" sz="1600" dirty="0">
                <a:latin typeface="Times New Roman" pitchFamily="18" charset="0"/>
                <a:cs typeface="Times New Roman" pitchFamily="18" charset="0"/>
              </a:rPr>
              <a:t> Miao, “</a:t>
            </a:r>
            <a:r>
              <a:rPr lang="en-US" sz="1600" dirty="0" err="1">
                <a:latin typeface="Times New Roman" pitchFamily="18" charset="0"/>
                <a:cs typeface="Times New Roman" pitchFamily="18" charset="0"/>
              </a:rPr>
              <a:t>Vivern</a:t>
            </a:r>
            <a:r>
              <a:rPr lang="en-US" sz="1600" dirty="0">
                <a:latin typeface="Times New Roman" pitchFamily="18" charset="0"/>
                <a:cs typeface="Times New Roman" pitchFamily="18" charset="0"/>
              </a:rPr>
              <a:t>–A Virtual Environment for </a:t>
            </a:r>
            <a:r>
              <a:rPr lang="en-US" sz="1600" dirty="0" err="1">
                <a:latin typeface="Times New Roman" pitchFamily="18" charset="0"/>
                <a:cs typeface="Times New Roman" pitchFamily="18" charset="0"/>
              </a:rPr>
              <a:t>Multiscale</a:t>
            </a:r>
            <a:r>
              <a:rPr lang="en-US" sz="1600" dirty="0">
                <a:latin typeface="Times New Roman" pitchFamily="18" charset="0"/>
                <a:cs typeface="Times New Roman" pitchFamily="18" charset="0"/>
              </a:rPr>
              <a:t> Visualization and Modeling of DNA Nanostructures.,” VOLUME 28,DECEMBER2022</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270</TotalTime>
  <Words>2596</Words>
  <Application>Microsoft Office PowerPoint</Application>
  <PresentationFormat>On-screen Show (4:3)</PresentationFormat>
  <Paragraphs>216</Paragraphs>
  <Slides>32</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Times New Roman</vt:lpstr>
      <vt:lpstr>Office Theme</vt:lpstr>
      <vt:lpstr>PowerPoint Presentation</vt:lpstr>
      <vt:lpstr>Abstract</vt:lpstr>
      <vt:lpstr>Introduction</vt:lpstr>
      <vt:lpstr>Introduction</vt:lpstr>
      <vt:lpstr>Objective of the Project</vt:lpstr>
      <vt:lpstr>Literature Survey</vt:lpstr>
      <vt:lpstr>PowerPoint Presentation</vt:lpstr>
      <vt:lpstr>PowerPoint Presentation</vt:lpstr>
      <vt:lpstr>Problem Statement</vt:lpstr>
      <vt:lpstr>Existing System</vt:lpstr>
      <vt:lpstr>Proposed System</vt:lpstr>
      <vt:lpstr>Proposed System</vt:lpstr>
      <vt:lpstr>Software Configuration</vt:lpstr>
      <vt:lpstr>Architecture Diagram</vt:lpstr>
      <vt:lpstr>System Design- Use Case Diagram</vt:lpstr>
      <vt:lpstr>Activity Diagram</vt:lpstr>
      <vt:lpstr>Data Flow Diagram - OVERALL</vt:lpstr>
      <vt:lpstr>Sequence Diagram </vt:lpstr>
      <vt:lpstr>Module Description</vt:lpstr>
      <vt:lpstr>Module Description</vt:lpstr>
      <vt:lpstr>Module Description</vt:lpstr>
      <vt:lpstr>Performance Evaluation / Results</vt:lpstr>
      <vt:lpstr>Performance Evaluation / Results</vt:lpstr>
      <vt:lpstr>Screen Shots</vt:lpstr>
      <vt:lpstr>Screen Shots</vt:lpstr>
      <vt:lpstr>Screen Shots</vt:lpstr>
      <vt:lpstr>Screen Shots</vt:lpstr>
      <vt:lpstr>Screen Shots</vt:lpstr>
      <vt:lpstr>Screen Shots</vt:lpstr>
      <vt:lpstr>Conclusion / Feature Enhancement  </vt:lpstr>
      <vt:lpstr>Conclusion / Feature Enhancement  </vt:lpstr>
      <vt:lpstr>Reference Paper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SENTHILKUMAR G</dc:creator>
  <cp:lastModifiedBy>Hp</cp:lastModifiedBy>
  <cp:revision>67</cp:revision>
  <dcterms:created xsi:type="dcterms:W3CDTF">2020-12-27T14:21:00Z</dcterms:created>
  <dcterms:modified xsi:type="dcterms:W3CDTF">2025-03-29T05:15:57Z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69F4DFD51AF34BCCBA3AC5858FF4481C_12</vt:lpwstr>
  </property>
  <property fmtid="{D5CDD505-2E9C-101B-9397-08002B2CF9AE}" pid="3" name="KSOProductBuildVer">
    <vt:lpwstr>1033-12.2.0.20326</vt:lpwstr>
  </property>
</Properties>
</file>